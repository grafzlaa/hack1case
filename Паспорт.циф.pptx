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7268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71698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31768546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50403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901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870102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1550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214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6611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302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554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0807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189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78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060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565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691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671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502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934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9810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90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943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3502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95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676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422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93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3332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1001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679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764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5206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450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444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4831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565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820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4337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952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5370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1402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6618" name="Shape 0"/>
          <p:cNvSpPr/>
          <p:nvPr/>
        </p:nvSpPr>
        <p:spPr bwMode="auto">
          <a:xfrm flipH="0" flipV="0">
            <a:off x="5648" y="0"/>
            <a:ext cx="9132702" cy="5143500"/>
          </a:xfrm>
          <a:prstGeom prst="rect">
            <a:avLst/>
          </a:prstGeom>
          <a:solidFill>
            <a:srgbClr val="0C1520"/>
          </a:solidFill>
          <a:ln w="12700">
            <a:solidFill>
              <a:srgbClr val="0C1520"/>
            </a:solidFill>
            <a:prstDash val="solid"/>
          </a:ln>
        </p:spPr>
      </p:sp>
      <p:sp>
        <p:nvSpPr>
          <p:cNvPr id="1766563380" name="Text 3"/>
          <p:cNvSpPr/>
          <p:nvPr/>
        </p:nvSpPr>
        <p:spPr bwMode="auto">
          <a:xfrm flipH="0" flipV="0">
            <a:off x="1465077" y="3503341"/>
            <a:ext cx="632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550">
                <a:solidFill>
                  <a:srgbClr val="6B8299"/>
                </a:solidFill>
              </a:rPr>
              <a:t>Оцифровка паспортов оборудования</a:t>
            </a:r>
            <a:r>
              <a:rPr lang="ru-RU" sz="1550">
                <a:solidFill>
                  <a:srgbClr val="6B8299"/>
                </a:solidFill>
              </a:rPr>
              <a:t> </a:t>
            </a:r>
            <a:r>
              <a:rPr lang="en-US" sz="1550">
                <a:solidFill>
                  <a:srgbClr val="6B8299"/>
                </a:solidFill>
              </a:rPr>
              <a:t>с распознаванием и экспортом</a:t>
            </a:r>
            <a:r>
              <a:rPr lang="en-US" sz="1550">
                <a:solidFill>
                  <a:srgbClr val="6B8299"/>
                </a:solidFill>
              </a:rPr>
              <a:t> в 1С</a:t>
            </a:r>
            <a:endParaRPr sz="1550"/>
          </a:p>
        </p:txBody>
      </p:sp>
      <p:sp>
        <p:nvSpPr>
          <p:cNvPr id="109335445" name="Shape 4"/>
          <p:cNvSpPr/>
          <p:nvPr/>
        </p:nvSpPr>
        <p:spPr bwMode="auto">
          <a:xfrm>
            <a:off x="320038" y="4846320"/>
            <a:ext cx="2103120" cy="256032"/>
          </a:xfrm>
          <a:prstGeom prst="rect">
            <a:avLst/>
          </a:prstGeom>
          <a:solidFill>
            <a:srgbClr val="D4934A">
              <a:alpha val="18000"/>
            </a:srgbClr>
          </a:solidFill>
          <a:ln w="12700">
            <a:solidFill>
              <a:srgbClr val="D4934A"/>
            </a:solidFill>
            <a:prstDash val="solid"/>
          </a:ln>
        </p:spPr>
      </p:sp>
      <p:sp>
        <p:nvSpPr>
          <p:cNvPr id="665234937" name="Text 5"/>
          <p:cNvSpPr/>
          <p:nvPr/>
        </p:nvSpPr>
        <p:spPr bwMode="auto">
          <a:xfrm flipH="0" flipV="0">
            <a:off x="320038" y="484631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D4934A"/>
                </a:solidFill>
              </a:rPr>
              <a:t>ХАКАТОН РТУ МИРЭА 2026</a:t>
            </a:r>
            <a:endParaRPr lang="en-US" sz="850"/>
          </a:p>
        </p:txBody>
      </p:sp>
      <p:sp>
        <p:nvSpPr>
          <p:cNvPr id="604270030" name="Text 6"/>
          <p:cNvSpPr/>
          <p:nvPr/>
        </p:nvSpPr>
        <p:spPr bwMode="auto">
          <a:xfrm flipH="0" flipV="0">
            <a:off x="320038" y="4488656"/>
            <a:ext cx="2103120" cy="30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B8299"/>
                </a:solidFill>
              </a:rPr>
              <a:t>Бухна Даниил</a:t>
            </a:r>
            <a:r>
              <a:rPr lang="ru-RU" sz="1100">
                <a:solidFill>
                  <a:srgbClr val="6B8299"/>
                </a:solidFill>
              </a:rPr>
              <a:t> </a:t>
            </a:r>
            <a:r>
              <a:rPr lang="ru-RU" sz="1100">
                <a:solidFill>
                  <a:schemeClr val="bg1"/>
                </a:solidFill>
              </a:rPr>
              <a:t>(лидер)</a:t>
            </a:r>
            <a:endParaRPr lang="en-US" sz="1100">
              <a:solidFill>
                <a:srgbClr val="6B8299"/>
              </a:solidFill>
            </a:endParaRPr>
          </a:p>
          <a:p>
            <a:pPr marL="0" indent="0" algn="l">
              <a:buNone/>
              <a:defRPr/>
            </a:pPr>
            <a:r>
              <a:rPr lang="en-US" sz="1100">
                <a:solidFill>
                  <a:srgbClr val="6B8299"/>
                </a:solidFill>
              </a:rPr>
              <a:t>Некрасов Никита</a:t>
            </a:r>
            <a:endParaRPr lang="en-US" sz="1100"/>
          </a:p>
        </p:txBody>
      </p:sp>
      <p:pic>
        <p:nvPicPr>
          <p:cNvPr id="1962810027" name=""/>
          <p:cNvPicPr>
            <a:picLocks noChangeAspect="1"/>
          </p:cNvPicPr>
          <p:nvPr/>
        </p:nvPicPr>
        <p:blipFill rotWithShape="1">
          <a:blip r:embed="rId3"/>
          <a:srcRect l="0" t="0" r="0" b="12281"/>
          <a:stretch/>
        </p:blipFill>
        <p:spPr bwMode="auto">
          <a:xfrm flipH="0" flipV="0">
            <a:off x="1004468" y="0"/>
            <a:ext cx="7123763" cy="34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021312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Проблема</a:t>
            </a:r>
            <a:endParaRPr lang="en-US" sz="2200"/>
          </a:p>
        </p:txBody>
      </p:sp>
      <p:sp>
        <p:nvSpPr>
          <p:cNvPr id="1573323713" name="Shape 1"/>
          <p:cNvSpPr/>
          <p:nvPr/>
        </p:nvSpPr>
        <p:spPr bwMode="auto">
          <a:xfrm>
            <a:off x="457200" y="804672"/>
            <a:ext cx="402336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686270005" name="Shape 2"/>
          <p:cNvSpPr/>
          <p:nvPr/>
        </p:nvSpPr>
        <p:spPr bwMode="auto">
          <a:xfrm>
            <a:off x="457200" y="804672"/>
            <a:ext cx="45720" cy="365760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581944179" name="Text 3"/>
          <p:cNvSpPr/>
          <p:nvPr/>
        </p:nvSpPr>
        <p:spPr bwMode="auto">
          <a:xfrm>
            <a:off x="585216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Как сейчас</a:t>
            </a:r>
            <a:endParaRPr lang="en-US" sz="1200"/>
          </a:p>
        </p:txBody>
      </p:sp>
      <p:sp>
        <p:nvSpPr>
          <p:cNvPr id="1301671078" name="Text 4"/>
          <p:cNvSpPr/>
          <p:nvPr/>
        </p:nvSpPr>
        <p:spPr bwMode="auto">
          <a:xfrm>
            <a:off x="585216" y="1207008"/>
            <a:ext cx="382219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Паспорта приходят на бумаге - у каждого производителя свой формат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Оператор вручную вбивает данные в 1С - 10-15 минут на документ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Ошибки при ручном вводе - никто не перепроверяет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Нет штрихкода - документ не найти сканером ТСД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Непонятно, для каких позиций шкафа паспорт уже есть</a:t>
            </a:r>
            <a:endParaRPr lang="en-US" sz="1000"/>
          </a:p>
        </p:txBody>
      </p:sp>
      <p:sp>
        <p:nvSpPr>
          <p:cNvPr id="1113325944" name="Shape 5"/>
          <p:cNvSpPr/>
          <p:nvPr/>
        </p:nvSpPr>
        <p:spPr bwMode="auto">
          <a:xfrm>
            <a:off x="4663440" y="804672"/>
            <a:ext cx="402336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63512666" name="Shape 6"/>
          <p:cNvSpPr/>
          <p:nvPr/>
        </p:nvSpPr>
        <p:spPr bwMode="auto">
          <a:xfrm>
            <a:off x="4663440" y="804672"/>
            <a:ext cx="45720" cy="36576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486141578" name="Text 7"/>
          <p:cNvSpPr/>
          <p:nvPr/>
        </p:nvSpPr>
        <p:spPr bwMode="auto">
          <a:xfrm>
            <a:off x="4791456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Что делает ПАСПОРТ.ЦИФ</a:t>
            </a:r>
            <a:endParaRPr lang="en-US" sz="1200"/>
          </a:p>
        </p:txBody>
      </p:sp>
      <p:sp>
        <p:nvSpPr>
          <p:cNvPr id="734866598" name="Text 8"/>
          <p:cNvSpPr/>
          <p:nvPr/>
        </p:nvSpPr>
        <p:spPr bwMode="auto">
          <a:xfrm>
            <a:off x="4791456" y="1207008"/>
            <a:ext cx="382219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Загрузил PDF → нажал «Запустить» → поля заполнены автоматически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Система извлекает: наименование, код, серийные №, даты, гарантию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Quality Score на каждой записи + флаг «Нужна проверка»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Штрихкод Code128 генерируется мгновенно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Режим «Шкаф»: видно, каких паспортов из перечня нет</a:t>
            </a:r>
            <a:endParaRPr lang="en-US" sz="1000"/>
          </a:p>
        </p:txBody>
      </p:sp>
      <p:sp>
        <p:nvSpPr>
          <p:cNvPr id="1088575130" name="Shape 9"/>
          <p:cNvSpPr/>
          <p:nvPr/>
        </p:nvSpPr>
        <p:spPr bwMode="auto">
          <a:xfrm>
            <a:off x="457200" y="4645152"/>
            <a:ext cx="8229600" cy="274320"/>
          </a:xfrm>
          <a:prstGeom prst="rect">
            <a:avLst/>
          </a:prstGeom>
          <a:solidFill>
            <a:srgbClr val="5BA4CF">
              <a:alpha val="12000"/>
            </a:srgbClr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07053920" name="Text 10"/>
          <p:cNvSpPr/>
          <p:nvPr/>
        </p:nvSpPr>
        <p:spPr bwMode="auto"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Разрыв между бумагой и цифрой - закрывается за секунды, а не часы.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767240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Технический стек - фактический</a:t>
            </a:r>
            <a:endParaRPr lang="en-US" sz="2200"/>
          </a:p>
        </p:txBody>
      </p:sp>
      <p:sp>
        <p:nvSpPr>
          <p:cNvPr id="323816832" name="Shape 1"/>
          <p:cNvSpPr/>
          <p:nvPr/>
        </p:nvSpPr>
        <p:spPr bwMode="auto">
          <a:xfrm>
            <a:off x="457200" y="822960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13983327" name="Shape 2"/>
          <p:cNvSpPr/>
          <p:nvPr/>
        </p:nvSpPr>
        <p:spPr bwMode="auto">
          <a:xfrm>
            <a:off x="457200" y="822960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15137808" name="Text 3"/>
          <p:cNvSpPr/>
          <p:nvPr/>
        </p:nvSpPr>
        <p:spPr bwMode="auto">
          <a:xfrm>
            <a:off x="576072" y="886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Flask 3</a:t>
            </a:r>
            <a:endParaRPr lang="en-US" sz="1100"/>
          </a:p>
        </p:txBody>
      </p:sp>
      <p:sp>
        <p:nvSpPr>
          <p:cNvPr id="854687374" name="Text 4"/>
          <p:cNvSpPr/>
          <p:nvPr/>
        </p:nvSpPr>
        <p:spPr bwMode="auto">
          <a:xfrm>
            <a:off x="576072" y="1115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Веб-сервер и REST API (Python)</a:t>
            </a:r>
            <a:endParaRPr lang="en-US" sz="900"/>
          </a:p>
        </p:txBody>
      </p:sp>
      <p:sp>
        <p:nvSpPr>
          <p:cNvPr id="479705803" name="Shape 5"/>
          <p:cNvSpPr/>
          <p:nvPr/>
        </p:nvSpPr>
        <p:spPr bwMode="auto">
          <a:xfrm>
            <a:off x="457200" y="1444752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915507706" name="Shape 6"/>
          <p:cNvSpPr/>
          <p:nvPr/>
        </p:nvSpPr>
        <p:spPr bwMode="auto">
          <a:xfrm>
            <a:off x="457200" y="1444752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81282529" name="Text 7"/>
          <p:cNvSpPr/>
          <p:nvPr/>
        </p:nvSpPr>
        <p:spPr bwMode="auto">
          <a:xfrm>
            <a:off x="576072" y="1508759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PyMuPDF</a:t>
            </a:r>
            <a:endParaRPr lang="en-US" sz="1100"/>
          </a:p>
        </p:txBody>
      </p:sp>
      <p:sp>
        <p:nvSpPr>
          <p:cNvPr id="1534903593" name="Text 8"/>
          <p:cNvSpPr/>
          <p:nvPr/>
        </p:nvSpPr>
        <p:spPr bwMode="auto">
          <a:xfrm>
            <a:off x="576072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Рендер страниц PDF → PNG для OCR</a:t>
            </a:r>
            <a:endParaRPr lang="en-US" sz="900"/>
          </a:p>
        </p:txBody>
      </p:sp>
      <p:sp>
        <p:nvSpPr>
          <p:cNvPr id="1543423478" name="Shape 9"/>
          <p:cNvSpPr/>
          <p:nvPr/>
        </p:nvSpPr>
        <p:spPr bwMode="auto">
          <a:xfrm>
            <a:off x="457200" y="2066544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390426850" name="Shape 10"/>
          <p:cNvSpPr/>
          <p:nvPr/>
        </p:nvSpPr>
        <p:spPr bwMode="auto">
          <a:xfrm>
            <a:off x="457200" y="2066544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70028306" name="Text 11"/>
          <p:cNvSpPr/>
          <p:nvPr/>
        </p:nvSpPr>
        <p:spPr bwMode="auto">
          <a:xfrm>
            <a:off x="576072" y="2130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Tesseract OCR</a:t>
            </a:r>
            <a:endParaRPr lang="en-US" sz="1100"/>
          </a:p>
        </p:txBody>
      </p:sp>
      <p:sp>
        <p:nvSpPr>
          <p:cNvPr id="789062339" name="Text 12"/>
          <p:cNvSpPr/>
          <p:nvPr/>
        </p:nvSpPr>
        <p:spPr bwMode="auto">
          <a:xfrm>
            <a:off x="576072" y="2359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Multi-pass, PSM 3/6/11, rus+eng, параллельные воркеры</a:t>
            </a:r>
            <a:endParaRPr lang="en-US" sz="900"/>
          </a:p>
        </p:txBody>
      </p:sp>
      <p:sp>
        <p:nvSpPr>
          <p:cNvPr id="521764950" name="Shape 13"/>
          <p:cNvSpPr/>
          <p:nvPr/>
        </p:nvSpPr>
        <p:spPr bwMode="auto">
          <a:xfrm>
            <a:off x="457200" y="2688336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264669715" name="Shape 14"/>
          <p:cNvSpPr/>
          <p:nvPr/>
        </p:nvSpPr>
        <p:spPr bwMode="auto">
          <a:xfrm>
            <a:off x="457200" y="2688336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597550531" name="Text 15"/>
          <p:cNvSpPr/>
          <p:nvPr/>
        </p:nvSpPr>
        <p:spPr bwMode="auto">
          <a:xfrm>
            <a:off x="576072" y="2752343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OpenCV + NumPy</a:t>
            </a:r>
            <a:endParaRPr lang="en-US" sz="1100"/>
          </a:p>
        </p:txBody>
      </p:sp>
      <p:sp>
        <p:nvSpPr>
          <p:cNvPr id="461131091" name="Text 16"/>
          <p:cNvSpPr/>
          <p:nvPr/>
        </p:nvSpPr>
        <p:spPr bwMode="auto">
          <a:xfrm>
            <a:off x="576072" y="2980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Предобработка изображений перед Tesseract</a:t>
            </a:r>
            <a:endParaRPr lang="en-US" sz="900"/>
          </a:p>
        </p:txBody>
      </p:sp>
      <p:sp>
        <p:nvSpPr>
          <p:cNvPr id="876120478" name="Shape 17"/>
          <p:cNvSpPr/>
          <p:nvPr/>
        </p:nvSpPr>
        <p:spPr bwMode="auto">
          <a:xfrm>
            <a:off x="457200" y="3310127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426963457" name="Shape 18"/>
          <p:cNvSpPr/>
          <p:nvPr/>
        </p:nvSpPr>
        <p:spPr bwMode="auto">
          <a:xfrm>
            <a:off x="457200" y="3310127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35797482" name="Text 19"/>
          <p:cNvSpPr/>
          <p:nvPr/>
        </p:nvSpPr>
        <p:spPr bwMode="auto">
          <a:xfrm>
            <a:off x="576072" y="3374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python-barcode</a:t>
            </a:r>
            <a:endParaRPr lang="en-US" sz="1100"/>
          </a:p>
        </p:txBody>
      </p:sp>
      <p:sp>
        <p:nvSpPr>
          <p:cNvPr id="1727137207" name="Text 20"/>
          <p:cNvSpPr/>
          <p:nvPr/>
        </p:nvSpPr>
        <p:spPr bwMode="auto">
          <a:xfrm>
            <a:off x="576072" y="3602735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Генерация Code128 (A-Z, 0-9, дефис, ≤20 символов)</a:t>
            </a:r>
            <a:endParaRPr lang="en-US" sz="900"/>
          </a:p>
        </p:txBody>
      </p:sp>
      <p:sp>
        <p:nvSpPr>
          <p:cNvPr id="1577750524" name="Shape 21"/>
          <p:cNvSpPr/>
          <p:nvPr/>
        </p:nvSpPr>
        <p:spPr bwMode="auto">
          <a:xfrm>
            <a:off x="457200" y="3931920"/>
            <a:ext cx="402336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96985947" name="Shape 22"/>
          <p:cNvSpPr/>
          <p:nvPr/>
        </p:nvSpPr>
        <p:spPr bwMode="auto">
          <a:xfrm>
            <a:off x="457200" y="3931920"/>
            <a:ext cx="45720" cy="5486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6817974" name="Text 23"/>
          <p:cNvSpPr/>
          <p:nvPr/>
        </p:nvSpPr>
        <p:spPr bwMode="auto">
          <a:xfrm>
            <a:off x="576072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openpyxl</a:t>
            </a:r>
            <a:endParaRPr lang="en-US" sz="1100"/>
          </a:p>
        </p:txBody>
      </p:sp>
      <p:sp>
        <p:nvSpPr>
          <p:cNvPr id="788024504" name="Text 24"/>
          <p:cNvSpPr/>
          <p:nvPr/>
        </p:nvSpPr>
        <p:spPr bwMode="auto">
          <a:xfrm>
            <a:off x="576072" y="4224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Формирование многолистового Excel</a:t>
            </a:r>
            <a:endParaRPr lang="en-US" sz="900"/>
          </a:p>
        </p:txBody>
      </p:sp>
      <p:sp>
        <p:nvSpPr>
          <p:cNvPr id="2008817252" name="Shape 25"/>
          <p:cNvSpPr/>
          <p:nvPr/>
        </p:nvSpPr>
        <p:spPr bwMode="auto">
          <a:xfrm>
            <a:off x="4663440" y="822960"/>
            <a:ext cx="4023360" cy="67665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86029684" name="Shape 26"/>
          <p:cNvSpPr/>
          <p:nvPr/>
        </p:nvSpPr>
        <p:spPr bwMode="auto">
          <a:xfrm>
            <a:off x="4663440" y="822960"/>
            <a:ext cx="45720" cy="67665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533395552" name="Text 27"/>
          <p:cNvSpPr/>
          <p:nvPr/>
        </p:nvSpPr>
        <p:spPr bwMode="auto">
          <a:xfrm>
            <a:off x="4782312" y="896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HTML / CSS / JS</a:t>
            </a:r>
            <a:endParaRPr lang="en-US" sz="1100"/>
          </a:p>
        </p:txBody>
      </p:sp>
      <p:sp>
        <p:nvSpPr>
          <p:cNvPr id="1051984008" name="Text 28"/>
          <p:cNvSpPr/>
          <p:nvPr/>
        </p:nvSpPr>
        <p:spPr bwMode="auto">
          <a:xfrm>
            <a:off x="4782312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SPA-интерфейс, встроен в Flask-шаблон (index.html)</a:t>
            </a:r>
            <a:endParaRPr lang="en-US" sz="900"/>
          </a:p>
        </p:txBody>
      </p:sp>
      <p:sp>
        <p:nvSpPr>
          <p:cNvPr id="1207767378" name="Shape 29"/>
          <p:cNvSpPr/>
          <p:nvPr/>
        </p:nvSpPr>
        <p:spPr bwMode="auto">
          <a:xfrm>
            <a:off x="4663440" y="1572768"/>
            <a:ext cx="4023360" cy="67665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10109782" name="Shape 30"/>
          <p:cNvSpPr/>
          <p:nvPr/>
        </p:nvSpPr>
        <p:spPr bwMode="auto">
          <a:xfrm>
            <a:off x="4663440" y="1572768"/>
            <a:ext cx="45720" cy="676656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874528397" name="Text 31"/>
          <p:cNvSpPr/>
          <p:nvPr/>
        </p:nvSpPr>
        <p:spPr bwMode="auto">
          <a:xfrm>
            <a:off x="4782312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Ollama (опц.)</a:t>
            </a:r>
            <a:endParaRPr lang="en-US" sz="1100"/>
          </a:p>
        </p:txBody>
      </p:sp>
      <p:sp>
        <p:nvSpPr>
          <p:cNvPr id="162402485" name="Text 32"/>
          <p:cNvSpPr/>
          <p:nvPr/>
        </p:nvSpPr>
        <p:spPr bwMode="auto">
          <a:xfrm>
            <a:off x="4782312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Локальный LLM - qwen2.5vl:32b, по умолчанию выключен (ENABLE_LLM=0)</a:t>
            </a:r>
            <a:endParaRPr lang="en-US" sz="900"/>
          </a:p>
        </p:txBody>
      </p:sp>
      <p:sp>
        <p:nvSpPr>
          <p:cNvPr id="1964802772" name="Shape 33"/>
          <p:cNvSpPr/>
          <p:nvPr/>
        </p:nvSpPr>
        <p:spPr bwMode="auto">
          <a:xfrm>
            <a:off x="4663440" y="2322576"/>
            <a:ext cx="4023360" cy="67665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535466115" name="Shape 34"/>
          <p:cNvSpPr/>
          <p:nvPr/>
        </p:nvSpPr>
        <p:spPr bwMode="auto">
          <a:xfrm>
            <a:off x="4663440" y="2322576"/>
            <a:ext cx="45720" cy="676656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1651189677" name="Text 35"/>
          <p:cNvSpPr/>
          <p:nvPr/>
        </p:nvSpPr>
        <p:spPr bwMode="auto">
          <a:xfrm>
            <a:off x="4782312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Docker Compose</a:t>
            </a:r>
            <a:endParaRPr lang="en-US" sz="1100"/>
          </a:p>
        </p:txBody>
      </p:sp>
      <p:sp>
        <p:nvSpPr>
          <p:cNvPr id="28220370" name="Text 36"/>
          <p:cNvSpPr/>
          <p:nvPr/>
        </p:nvSpPr>
        <p:spPr bwMode="auto">
          <a:xfrm>
            <a:off x="4782312" y="2633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app (порт 5000) + ollama (порт 11434), volume registry_data</a:t>
            </a:r>
            <a:endParaRPr lang="en-US" sz="900"/>
          </a:p>
        </p:txBody>
      </p:sp>
      <p:sp>
        <p:nvSpPr>
          <p:cNvPr id="1925261172" name="Shape 37"/>
          <p:cNvSpPr/>
          <p:nvPr/>
        </p:nvSpPr>
        <p:spPr bwMode="auto">
          <a:xfrm>
            <a:off x="4663440" y="3072384"/>
            <a:ext cx="4023360" cy="67665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4329987" name="Shape 38"/>
          <p:cNvSpPr/>
          <p:nvPr/>
        </p:nvSpPr>
        <p:spPr bwMode="auto">
          <a:xfrm>
            <a:off x="4663440" y="3072384"/>
            <a:ext cx="45720" cy="67665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677602431" name="Text 39"/>
          <p:cNvSpPr/>
          <p:nvPr/>
        </p:nvSpPr>
        <p:spPr bwMode="auto">
          <a:xfrm>
            <a:off x="478231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registry_state.json</a:t>
            </a:r>
            <a:endParaRPr lang="en-US" sz="1100"/>
          </a:p>
        </p:txBody>
      </p:sp>
      <p:sp>
        <p:nvSpPr>
          <p:cNvPr id="1197868972" name="Text 40"/>
          <p:cNvSpPr/>
          <p:nvPr/>
        </p:nvSpPr>
        <p:spPr bwMode="auto">
          <a:xfrm>
            <a:off x="4782312" y="3383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Хранение реестра между перезапусками</a:t>
            </a:r>
            <a:endParaRPr lang="en-US" sz="900"/>
          </a:p>
        </p:txBody>
      </p:sp>
      <p:sp>
        <p:nvSpPr>
          <p:cNvPr id="1165965739" name="Shape 41"/>
          <p:cNvSpPr/>
          <p:nvPr/>
        </p:nvSpPr>
        <p:spPr bwMode="auto">
          <a:xfrm>
            <a:off x="4663440" y="3822192"/>
            <a:ext cx="4023360" cy="67665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79924511" name="Shape 42"/>
          <p:cNvSpPr/>
          <p:nvPr/>
        </p:nvSpPr>
        <p:spPr bwMode="auto">
          <a:xfrm>
            <a:off x="4663440" y="3822192"/>
            <a:ext cx="45720" cy="67665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19769731" name="Text 43"/>
          <p:cNvSpPr/>
          <p:nvPr/>
        </p:nvSpPr>
        <p:spPr bwMode="auto">
          <a:xfrm>
            <a:off x="4782312" y="3895343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control_samples.json</a:t>
            </a:r>
            <a:endParaRPr lang="en-US" sz="1100"/>
          </a:p>
        </p:txBody>
      </p:sp>
      <p:sp>
        <p:nvSpPr>
          <p:cNvPr id="1032706082" name="Text 44"/>
          <p:cNvSpPr/>
          <p:nvPr/>
        </p:nvSpPr>
        <p:spPr bwMode="auto">
          <a:xfrm>
            <a:off x="4782312" y="4133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Эталонный набор для воспроизводимой оценки</a:t>
            </a:r>
            <a:endParaRPr lang="en-US" sz="900"/>
          </a:p>
        </p:txBody>
      </p:sp>
      <p:sp>
        <p:nvSpPr>
          <p:cNvPr id="1835347958" name="Shape 45"/>
          <p:cNvSpPr/>
          <p:nvPr/>
        </p:nvSpPr>
        <p:spPr bwMode="auto">
          <a:xfrm>
            <a:off x="457200" y="4645152"/>
            <a:ext cx="8229600" cy="274320"/>
          </a:xfrm>
          <a:prstGeom prst="rect">
            <a:avLst/>
          </a:prstGeom>
          <a:solidFill>
            <a:srgbClr val="5BA4CF">
              <a:alpha val="12000"/>
            </a:srgbClr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637585093" name="Text 46"/>
          <p:cNvSpPr/>
          <p:nvPr/>
        </p:nvSpPr>
        <p:spPr bwMode="auto"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FastAPI/React/pdfplumber в проекте НЕ используются - стек на Flask + Tesseract + PyMuPDF.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527416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Пайплайн обработки одного документа</a:t>
            </a:r>
            <a:endParaRPr lang="en-US" sz="2200"/>
          </a:p>
        </p:txBody>
      </p:sp>
      <p:sp>
        <p:nvSpPr>
          <p:cNvPr id="851779020" name="Shape 1"/>
          <p:cNvSpPr/>
          <p:nvPr/>
        </p:nvSpPr>
        <p:spPr bwMode="auto">
          <a:xfrm>
            <a:off x="274320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547975126" name="Shape 2"/>
          <p:cNvSpPr/>
          <p:nvPr/>
        </p:nvSpPr>
        <p:spPr bwMode="auto">
          <a:xfrm>
            <a:off x="274320" y="868680"/>
            <a:ext cx="1252728" cy="45720"/>
          </a:xfrm>
          <a:prstGeom prst="rect">
            <a:avLst/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1301929041" name="Shape 3"/>
          <p:cNvSpPr/>
          <p:nvPr/>
        </p:nvSpPr>
        <p:spPr bwMode="auto">
          <a:xfrm>
            <a:off x="1234440" y="740664"/>
            <a:ext cx="256032" cy="256032"/>
          </a:xfrm>
          <a:prstGeom prst="ellipse">
            <a:avLst/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494336022" name="Text 4"/>
          <p:cNvSpPr/>
          <p:nvPr/>
        </p:nvSpPr>
        <p:spPr bwMode="auto">
          <a:xfrm>
            <a:off x="1234440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1</a:t>
            </a:r>
            <a:endParaRPr lang="en-US" sz="900"/>
          </a:p>
        </p:txBody>
      </p:sp>
      <p:pic>
        <p:nvPicPr>
          <p:cNvPr id="150665134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9516" y="996696"/>
            <a:ext cx="384048" cy="384048"/>
          </a:xfrm>
          <a:prstGeom prst="rect">
            <a:avLst/>
          </a:prstGeom>
        </p:spPr>
      </p:pic>
      <p:sp>
        <p:nvSpPr>
          <p:cNvPr id="1804146971" name="Text 5"/>
          <p:cNvSpPr/>
          <p:nvPr/>
        </p:nvSpPr>
        <p:spPr bwMode="auto">
          <a:xfrm>
            <a:off x="320040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Preview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Layer</a:t>
            </a:r>
            <a:endParaRPr lang="en-US" sz="1000"/>
          </a:p>
        </p:txBody>
      </p:sp>
      <p:sp>
        <p:nvSpPr>
          <p:cNvPr id="1248353973" name="Text 6"/>
          <p:cNvSpPr/>
          <p:nvPr/>
        </p:nvSpPr>
        <p:spPr bwMode="auto">
          <a:xfrm>
            <a:off x="320040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PyMuPDF →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PNG страниц</a:t>
            </a:r>
            <a:endParaRPr lang="en-US" sz="800"/>
          </a:p>
        </p:txBody>
      </p:sp>
      <p:sp>
        <p:nvSpPr>
          <p:cNvPr id="652219254" name="Text 7"/>
          <p:cNvSpPr/>
          <p:nvPr/>
        </p:nvSpPr>
        <p:spPr bwMode="auto">
          <a:xfrm>
            <a:off x="1545336" y="14584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5BA4CF"/>
                </a:solidFill>
              </a:rPr>
              <a:t>›</a:t>
            </a:r>
            <a:endParaRPr lang="en-US" sz="1600"/>
          </a:p>
        </p:txBody>
      </p:sp>
      <p:sp>
        <p:nvSpPr>
          <p:cNvPr id="489598021" name="Shape 8"/>
          <p:cNvSpPr/>
          <p:nvPr/>
        </p:nvSpPr>
        <p:spPr bwMode="auto">
          <a:xfrm>
            <a:off x="1719072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63083655" name="Shape 9"/>
          <p:cNvSpPr/>
          <p:nvPr/>
        </p:nvSpPr>
        <p:spPr bwMode="auto">
          <a:xfrm>
            <a:off x="1719072" y="868680"/>
            <a:ext cx="1252728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545460088" name="Shape 10"/>
          <p:cNvSpPr/>
          <p:nvPr/>
        </p:nvSpPr>
        <p:spPr bwMode="auto">
          <a:xfrm>
            <a:off x="2679192" y="740664"/>
            <a:ext cx="256032" cy="25603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442217040" name="Text 11"/>
          <p:cNvSpPr/>
          <p:nvPr/>
        </p:nvSpPr>
        <p:spPr bwMode="auto">
          <a:xfrm>
            <a:off x="2679192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2</a:t>
            </a:r>
            <a:endParaRPr lang="en-US" sz="900"/>
          </a:p>
        </p:txBody>
      </p:sp>
      <p:pic>
        <p:nvPicPr>
          <p:cNvPr id="113433067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44268" y="996696"/>
            <a:ext cx="384048" cy="384048"/>
          </a:xfrm>
          <a:prstGeom prst="rect">
            <a:avLst/>
          </a:prstGeom>
        </p:spPr>
      </p:pic>
      <p:sp>
        <p:nvSpPr>
          <p:cNvPr id="1739237535" name="Text 12"/>
          <p:cNvSpPr/>
          <p:nvPr/>
        </p:nvSpPr>
        <p:spPr bwMode="auto">
          <a:xfrm>
            <a:off x="1764792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OCR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Layer</a:t>
            </a:r>
            <a:endParaRPr lang="en-US" sz="1000"/>
          </a:p>
        </p:txBody>
      </p:sp>
      <p:sp>
        <p:nvSpPr>
          <p:cNvPr id="597443687" name="Text 13"/>
          <p:cNvSpPr/>
          <p:nvPr/>
        </p:nvSpPr>
        <p:spPr bwMode="auto">
          <a:xfrm>
            <a:off x="1764792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Tesseract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multi-pass PSM 3/6/11</a:t>
            </a:r>
            <a:endParaRPr lang="en-US" sz="800"/>
          </a:p>
        </p:txBody>
      </p:sp>
      <p:sp>
        <p:nvSpPr>
          <p:cNvPr id="839959083" name="Text 14"/>
          <p:cNvSpPr/>
          <p:nvPr/>
        </p:nvSpPr>
        <p:spPr bwMode="auto">
          <a:xfrm>
            <a:off x="2990088" y="14584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5BA4CF"/>
                </a:solidFill>
              </a:rPr>
              <a:t>›</a:t>
            </a:r>
            <a:endParaRPr lang="en-US" sz="1600"/>
          </a:p>
        </p:txBody>
      </p:sp>
      <p:sp>
        <p:nvSpPr>
          <p:cNvPr id="1768822437" name="Shape 15"/>
          <p:cNvSpPr/>
          <p:nvPr/>
        </p:nvSpPr>
        <p:spPr bwMode="auto">
          <a:xfrm>
            <a:off x="3163824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63111866" name="Shape 16"/>
          <p:cNvSpPr/>
          <p:nvPr/>
        </p:nvSpPr>
        <p:spPr bwMode="auto">
          <a:xfrm>
            <a:off x="3163824" y="868680"/>
            <a:ext cx="1252728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37622789" name="Shape 17"/>
          <p:cNvSpPr/>
          <p:nvPr/>
        </p:nvSpPr>
        <p:spPr bwMode="auto">
          <a:xfrm>
            <a:off x="4123944" y="740664"/>
            <a:ext cx="256032" cy="25603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52999800" name="Text 18"/>
          <p:cNvSpPr/>
          <p:nvPr/>
        </p:nvSpPr>
        <p:spPr bwMode="auto">
          <a:xfrm>
            <a:off x="4123944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3</a:t>
            </a:r>
            <a:endParaRPr lang="en-US" sz="900"/>
          </a:p>
        </p:txBody>
      </p:sp>
      <p:pic>
        <p:nvPicPr>
          <p:cNvPr id="193080166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589019" y="996696"/>
            <a:ext cx="384048" cy="384048"/>
          </a:xfrm>
          <a:prstGeom prst="rect">
            <a:avLst/>
          </a:prstGeom>
        </p:spPr>
      </p:pic>
      <p:sp>
        <p:nvSpPr>
          <p:cNvPr id="525451186" name="Text 19"/>
          <p:cNvSpPr/>
          <p:nvPr/>
        </p:nvSpPr>
        <p:spPr bwMode="auto">
          <a:xfrm>
            <a:off x="3209544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Rules /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Regex</a:t>
            </a:r>
            <a:endParaRPr lang="en-US" sz="1000"/>
          </a:p>
        </p:txBody>
      </p:sp>
      <p:sp>
        <p:nvSpPr>
          <p:cNvPr id="813540979" name="Text 20"/>
          <p:cNvSpPr/>
          <p:nvPr/>
        </p:nvSpPr>
        <p:spPr bwMode="auto">
          <a:xfrm>
            <a:off x="3209544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Нормализация,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фильтрация</a:t>
            </a:r>
            <a:endParaRPr lang="en-US" sz="800"/>
          </a:p>
        </p:txBody>
      </p:sp>
      <p:sp>
        <p:nvSpPr>
          <p:cNvPr id="1083135975" name="Text 21"/>
          <p:cNvSpPr/>
          <p:nvPr/>
        </p:nvSpPr>
        <p:spPr bwMode="auto">
          <a:xfrm>
            <a:off x="4434840" y="14584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5BA4CF"/>
                </a:solidFill>
              </a:rPr>
              <a:t>›</a:t>
            </a:r>
            <a:endParaRPr lang="en-US" sz="1600"/>
          </a:p>
        </p:txBody>
      </p:sp>
      <p:sp>
        <p:nvSpPr>
          <p:cNvPr id="1058236290" name="Shape 22"/>
          <p:cNvSpPr/>
          <p:nvPr/>
        </p:nvSpPr>
        <p:spPr bwMode="auto">
          <a:xfrm>
            <a:off x="4608576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74259303" name="Shape 23"/>
          <p:cNvSpPr/>
          <p:nvPr/>
        </p:nvSpPr>
        <p:spPr bwMode="auto">
          <a:xfrm>
            <a:off x="4608576" y="868680"/>
            <a:ext cx="1252728" cy="4572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482627076" name="Shape 24"/>
          <p:cNvSpPr/>
          <p:nvPr/>
        </p:nvSpPr>
        <p:spPr bwMode="auto">
          <a:xfrm>
            <a:off x="5568696" y="740664"/>
            <a:ext cx="256032" cy="256032"/>
          </a:xfrm>
          <a:prstGeom prst="ellipse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210555908" name="Text 25"/>
          <p:cNvSpPr/>
          <p:nvPr/>
        </p:nvSpPr>
        <p:spPr bwMode="auto">
          <a:xfrm>
            <a:off x="5568696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4</a:t>
            </a:r>
            <a:endParaRPr lang="en-US" sz="900"/>
          </a:p>
        </p:txBody>
      </p:sp>
      <p:pic>
        <p:nvPicPr>
          <p:cNvPr id="159724987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33772" y="996696"/>
            <a:ext cx="384048" cy="384048"/>
          </a:xfrm>
          <a:prstGeom prst="rect">
            <a:avLst/>
          </a:prstGeom>
        </p:spPr>
      </p:pic>
      <p:sp>
        <p:nvSpPr>
          <p:cNvPr id="133804458" name="Text 26"/>
          <p:cNvSpPr/>
          <p:nvPr/>
        </p:nvSpPr>
        <p:spPr bwMode="auto">
          <a:xfrm>
            <a:off x="4654296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LLM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(опц.)</a:t>
            </a:r>
            <a:endParaRPr lang="en-US" sz="1000"/>
          </a:p>
        </p:txBody>
      </p:sp>
      <p:sp>
        <p:nvSpPr>
          <p:cNvPr id="111819941" name="Text 27"/>
          <p:cNvSpPr/>
          <p:nvPr/>
        </p:nvSpPr>
        <p:spPr bwMode="auto">
          <a:xfrm>
            <a:off x="4654296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Ollama local,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failover, timeout</a:t>
            </a:r>
            <a:endParaRPr lang="en-US" sz="800"/>
          </a:p>
        </p:txBody>
      </p:sp>
      <p:sp>
        <p:nvSpPr>
          <p:cNvPr id="1885083611" name="Text 28"/>
          <p:cNvSpPr/>
          <p:nvPr/>
        </p:nvSpPr>
        <p:spPr bwMode="auto">
          <a:xfrm>
            <a:off x="5879592" y="14584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5BA4CF"/>
                </a:solidFill>
              </a:rPr>
              <a:t>›</a:t>
            </a:r>
            <a:endParaRPr lang="en-US" sz="1600"/>
          </a:p>
        </p:txBody>
      </p:sp>
      <p:sp>
        <p:nvSpPr>
          <p:cNvPr id="1038975042" name="Shape 29"/>
          <p:cNvSpPr/>
          <p:nvPr/>
        </p:nvSpPr>
        <p:spPr bwMode="auto">
          <a:xfrm>
            <a:off x="6053328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806221134" name="Shape 30"/>
          <p:cNvSpPr/>
          <p:nvPr/>
        </p:nvSpPr>
        <p:spPr bwMode="auto">
          <a:xfrm>
            <a:off x="6053328" y="868680"/>
            <a:ext cx="1252728" cy="45720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1832929248" name="Shape 31"/>
          <p:cNvSpPr/>
          <p:nvPr/>
        </p:nvSpPr>
        <p:spPr bwMode="auto">
          <a:xfrm>
            <a:off x="7013448" y="740664"/>
            <a:ext cx="256032" cy="256032"/>
          </a:xfrm>
          <a:prstGeom prst="ellipse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1884988882" name="Text 32"/>
          <p:cNvSpPr/>
          <p:nvPr/>
        </p:nvSpPr>
        <p:spPr bwMode="auto">
          <a:xfrm>
            <a:off x="7013448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5</a:t>
            </a:r>
            <a:endParaRPr lang="en-US" sz="900"/>
          </a:p>
        </p:txBody>
      </p:sp>
      <p:pic>
        <p:nvPicPr>
          <p:cNvPr id="406676657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78524" y="996696"/>
            <a:ext cx="384048" cy="384048"/>
          </a:xfrm>
          <a:prstGeom prst="rect">
            <a:avLst/>
          </a:prstGeom>
        </p:spPr>
      </p:pic>
      <p:sp>
        <p:nvSpPr>
          <p:cNvPr id="913601537" name="Text 33"/>
          <p:cNvSpPr/>
          <p:nvPr/>
        </p:nvSpPr>
        <p:spPr bwMode="auto">
          <a:xfrm>
            <a:off x="6099048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Scoring &amp;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Postproc</a:t>
            </a:r>
            <a:endParaRPr lang="en-US" sz="1000"/>
          </a:p>
        </p:txBody>
      </p:sp>
      <p:sp>
        <p:nvSpPr>
          <p:cNvPr id="1683041470" name="Text 34"/>
          <p:cNvSpPr/>
          <p:nvPr/>
        </p:nvSpPr>
        <p:spPr bwMode="auto">
          <a:xfrm>
            <a:off x="6099048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quality_score,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checklist, evidence</a:t>
            </a:r>
            <a:endParaRPr lang="en-US" sz="800"/>
          </a:p>
        </p:txBody>
      </p:sp>
      <p:sp>
        <p:nvSpPr>
          <p:cNvPr id="1670121487" name="Text 35"/>
          <p:cNvSpPr/>
          <p:nvPr/>
        </p:nvSpPr>
        <p:spPr bwMode="auto">
          <a:xfrm>
            <a:off x="7324344" y="14584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5BA4CF"/>
                </a:solidFill>
              </a:rPr>
              <a:t>›</a:t>
            </a:r>
            <a:endParaRPr lang="en-US" sz="1600"/>
          </a:p>
        </p:txBody>
      </p:sp>
      <p:sp>
        <p:nvSpPr>
          <p:cNvPr id="2097773664" name="Shape 36"/>
          <p:cNvSpPr/>
          <p:nvPr/>
        </p:nvSpPr>
        <p:spPr bwMode="auto">
          <a:xfrm>
            <a:off x="7498080" y="868680"/>
            <a:ext cx="1252728" cy="1508759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0379349" name="Shape 37"/>
          <p:cNvSpPr/>
          <p:nvPr/>
        </p:nvSpPr>
        <p:spPr bwMode="auto">
          <a:xfrm>
            <a:off x="7498080" y="868680"/>
            <a:ext cx="1252728" cy="45720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1857776444" name="Shape 38"/>
          <p:cNvSpPr/>
          <p:nvPr/>
        </p:nvSpPr>
        <p:spPr bwMode="auto">
          <a:xfrm>
            <a:off x="8458200" y="740664"/>
            <a:ext cx="256032" cy="256032"/>
          </a:xfrm>
          <a:prstGeom prst="ellipse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2001485675" name="Text 39"/>
          <p:cNvSpPr/>
          <p:nvPr/>
        </p:nvSpPr>
        <p:spPr bwMode="auto">
          <a:xfrm>
            <a:off x="8458200" y="740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11827"/>
                </a:solidFill>
              </a:rPr>
              <a:t>6</a:t>
            </a:r>
            <a:endParaRPr lang="en-US" sz="900"/>
          </a:p>
        </p:txBody>
      </p:sp>
      <p:pic>
        <p:nvPicPr>
          <p:cNvPr id="956162070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923276" y="996696"/>
            <a:ext cx="384048" cy="384048"/>
          </a:xfrm>
          <a:prstGeom prst="rect">
            <a:avLst/>
          </a:prstGeom>
        </p:spPr>
      </p:pic>
      <p:sp>
        <p:nvSpPr>
          <p:cNvPr id="198673587" name="Text 40"/>
          <p:cNvSpPr/>
          <p:nvPr/>
        </p:nvSpPr>
        <p:spPr bwMode="auto">
          <a:xfrm>
            <a:off x="7543800" y="14630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Реестр /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b="1">
                <a:solidFill>
                  <a:srgbClr val="C8D6E4"/>
                </a:solidFill>
              </a:rPr>
              <a:t>Export</a:t>
            </a:r>
            <a:endParaRPr lang="en-US" sz="1000"/>
          </a:p>
        </p:txBody>
      </p:sp>
      <p:sp>
        <p:nvSpPr>
          <p:cNvPr id="1117935645" name="Text 41"/>
          <p:cNvSpPr/>
          <p:nvPr/>
        </p:nvSpPr>
        <p:spPr bwMode="auto">
          <a:xfrm>
            <a:off x="7543800" y="1947671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JSON → Excel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6B8299"/>
                </a:solidFill>
              </a:rPr>
              <a:t>8 листов</a:t>
            </a:r>
            <a:endParaRPr lang="en-US" sz="800"/>
          </a:p>
        </p:txBody>
      </p:sp>
      <p:sp>
        <p:nvSpPr>
          <p:cNvPr id="1552177665" name="Shape 42"/>
          <p:cNvSpPr/>
          <p:nvPr/>
        </p:nvSpPr>
        <p:spPr bwMode="auto">
          <a:xfrm flipH="0" flipV="0">
            <a:off x="274319" y="3132343"/>
            <a:ext cx="8547607" cy="402336"/>
          </a:xfrm>
          <a:prstGeom prst="rect">
            <a:avLst/>
          </a:prstGeom>
          <a:solidFill>
            <a:srgbClr val="172030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063936313" name="Shape 43"/>
          <p:cNvSpPr/>
          <p:nvPr/>
        </p:nvSpPr>
        <p:spPr bwMode="auto">
          <a:xfrm flipH="0" flipV="0">
            <a:off x="274319" y="3132343"/>
            <a:ext cx="45720" cy="40233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557744761" name="Text 44"/>
          <p:cNvSpPr/>
          <p:nvPr/>
        </p:nvSpPr>
        <p:spPr bwMode="auto">
          <a:xfrm flipH="0" flipV="0">
            <a:off x="402335" y="3168919"/>
            <a:ext cx="8419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OCR: параллельные воркеры (OCR_WORKERS=4), ранний выход при quality≥320 chars, timeout 8 с/страница</a:t>
            </a:r>
            <a:endParaRPr lang="en-US" sz="1000"/>
          </a:p>
        </p:txBody>
      </p:sp>
      <p:sp>
        <p:nvSpPr>
          <p:cNvPr id="1748978151" name="Shape 45"/>
          <p:cNvSpPr/>
          <p:nvPr/>
        </p:nvSpPr>
        <p:spPr bwMode="auto">
          <a:xfrm flipH="0" flipV="0">
            <a:off x="274319" y="3607831"/>
            <a:ext cx="8547607" cy="402336"/>
          </a:xfrm>
          <a:prstGeom prst="rect">
            <a:avLst/>
          </a:prstGeom>
          <a:solidFill>
            <a:srgbClr val="172030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496614656" name="Shape 46"/>
          <p:cNvSpPr/>
          <p:nvPr/>
        </p:nvSpPr>
        <p:spPr bwMode="auto">
          <a:xfrm flipH="0" flipV="0">
            <a:off x="274319" y="3607831"/>
            <a:ext cx="45720" cy="402336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229313443" name="Text 47"/>
          <p:cNvSpPr/>
          <p:nvPr/>
        </p:nvSpPr>
        <p:spPr bwMode="auto">
          <a:xfrm flipH="0" flipV="0">
            <a:off x="402335" y="3644407"/>
            <a:ext cx="8419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LLM: автовыбор модели из кандидатов, общий бюджет 90 с, fallback на OCR+rules при таймауте</a:t>
            </a:r>
            <a:endParaRPr lang="en-US" sz="1000"/>
          </a:p>
        </p:txBody>
      </p:sp>
      <p:sp>
        <p:nvSpPr>
          <p:cNvPr id="341392238" name="Shape 42"/>
          <p:cNvSpPr/>
          <p:nvPr/>
        </p:nvSpPr>
        <p:spPr bwMode="auto">
          <a:xfrm flipH="0" flipV="0">
            <a:off x="274319" y="4088415"/>
            <a:ext cx="8547607" cy="402336"/>
          </a:xfrm>
          <a:prstGeom prst="rect">
            <a:avLst/>
          </a:prstGeom>
          <a:solidFill>
            <a:srgbClr val="172030"/>
          </a:solidFill>
          <a:ln w="12700">
            <a:solidFill>
              <a:srgbClr val="5BA4CF"/>
            </a:solidFill>
            <a:prstDash val="solid"/>
          </a:ln>
        </p:spPr>
        <p:txBody>
          <a:bodyPr anchor="ctr"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 spc="0">
                <a:solidFill>
                  <a:srgbClr val="6B8299"/>
                </a:solidFill>
                <a:latin typeface="Calibri"/>
                <a:ea typeface="Calibri"/>
                <a:cs typeface="Calibri"/>
              </a:rPr>
              <a:t>LLM по умолчанию выключен (ENABLE_LLM=0) - система полностью работает без GPU.</a:t>
            </a:r>
            <a:endParaRPr sz="1000"/>
          </a:p>
        </p:txBody>
      </p:sp>
      <p:sp>
        <p:nvSpPr>
          <p:cNvPr id="368918720" name="Shape 43"/>
          <p:cNvSpPr/>
          <p:nvPr/>
        </p:nvSpPr>
        <p:spPr bwMode="auto">
          <a:xfrm flipH="0" flipV="0">
            <a:off x="274320" y="4088415"/>
            <a:ext cx="45720" cy="40233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45238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Режим «Паспорт» - интерфейс</a:t>
            </a:r>
            <a:endParaRPr lang="en-US" sz="2200"/>
          </a:p>
        </p:txBody>
      </p:sp>
      <p:sp>
        <p:nvSpPr>
          <p:cNvPr id="273770923" name="Shape 28"/>
          <p:cNvSpPr/>
          <p:nvPr/>
        </p:nvSpPr>
        <p:spPr bwMode="auto">
          <a:xfrm>
            <a:off x="457199" y="4841605"/>
            <a:ext cx="8229600" cy="274320"/>
          </a:xfrm>
          <a:prstGeom prst="rect">
            <a:avLst/>
          </a:prstGeom>
          <a:solidFill>
            <a:srgbClr val="5BA4CF">
              <a:alpha val="12000"/>
            </a:srgbClr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49056487" name="Text 29"/>
          <p:cNvSpPr/>
          <p:nvPr/>
        </p:nvSpPr>
        <p:spPr bwMode="auto">
          <a:xfrm>
            <a:off x="502920" y="4841605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Все три состояния видны сразу: файл в очереди, предпросмотр, извлечённые поля - без переключений.</a:t>
            </a:r>
            <a:endParaRPr lang="en-US" sz="1000"/>
          </a:p>
        </p:txBody>
      </p:sp>
      <p:pic>
        <p:nvPicPr>
          <p:cNvPr id="11311815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27393" y="839390"/>
            <a:ext cx="6924170" cy="3716464"/>
          </a:xfrm>
          <a:prstGeom prst="rect">
            <a:avLst/>
          </a:prstGeom>
        </p:spPr>
      </p:pic>
      <p:sp>
        <p:nvSpPr>
          <p:cNvPr id="909799788" name=""/>
          <p:cNvSpPr txBox="1"/>
          <p:nvPr/>
        </p:nvSpPr>
        <p:spPr bwMode="auto">
          <a:xfrm rot="0" flipH="0" flipV="0">
            <a:off x="589359" y="1012030"/>
            <a:ext cx="9143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142060038" name=""/>
          <p:cNvSpPr txBox="1"/>
          <p:nvPr/>
        </p:nvSpPr>
        <p:spPr bwMode="auto">
          <a:xfrm rot="0" flipH="0" flipV="0">
            <a:off x="-11946" y="1118711"/>
            <a:ext cx="1202612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Оч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ередь 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файлов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cxnSp>
        <p:nvCxnSpPr>
          <p:cNvPr id="1474418487" name="Линия 1474418487"/>
          <p:cNvCxnSpPr/>
          <p:nvPr/>
        </p:nvCxnSpPr>
        <p:spPr bwMode="auto">
          <a:xfrm rot="0" flipH="0" flipV="0">
            <a:off x="521406" y="1371187"/>
            <a:ext cx="669259" cy="166687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headEnd type="none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255270" name=""/>
          <p:cNvSpPr txBox="1"/>
          <p:nvPr/>
        </p:nvSpPr>
        <p:spPr bwMode="auto">
          <a:xfrm rot="0" flipH="0" flipV="0">
            <a:off x="4018687" y="579950"/>
            <a:ext cx="1606355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Предпросмотр 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страниц</a:t>
            </a:r>
            <a:endParaRPr/>
          </a:p>
        </p:txBody>
      </p:sp>
      <p:cxnSp>
        <p:nvCxnSpPr>
          <p:cNvPr id="1948599377" name=""/>
          <p:cNvCxnSpPr/>
          <p:nvPr/>
        </p:nvCxnSpPr>
        <p:spPr bwMode="auto">
          <a:xfrm flipH="0" flipV="0">
            <a:off x="4923234" y="839390"/>
            <a:ext cx="348257" cy="944049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2307271" name=""/>
          <p:cNvSpPr txBox="1"/>
          <p:nvPr/>
        </p:nvSpPr>
        <p:spPr bwMode="auto">
          <a:xfrm rot="0" flipH="0" flipV="0">
            <a:off x="6428715" y="517921"/>
            <a:ext cx="1263935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Запуск обработки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cxnSp>
        <p:nvCxnSpPr>
          <p:cNvPr id="1930676273" name=""/>
          <p:cNvCxnSpPr/>
          <p:nvPr/>
        </p:nvCxnSpPr>
        <p:spPr bwMode="auto">
          <a:xfrm flipH="1" flipV="0">
            <a:off x="6428715" y="777361"/>
            <a:ext cx="411424" cy="376295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344234" name=""/>
          <p:cNvSpPr txBox="1"/>
          <p:nvPr/>
        </p:nvSpPr>
        <p:spPr bwMode="auto">
          <a:xfrm rot="0" flipH="0" flipV="0">
            <a:off x="8051563" y="1195090"/>
            <a:ext cx="1007868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И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звл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е</a:t>
            </a:r>
            <a:r>
              <a:rPr lang="ru-RU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ч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ённые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ea typeface="Calibri"/>
              <a:cs typeface="Calibri"/>
            </a:endParaRP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поля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sp>
        <p:nvSpPr>
          <p:cNvPr id="158891636" name=""/>
          <p:cNvSpPr/>
          <p:nvPr/>
        </p:nvSpPr>
        <p:spPr bwMode="auto">
          <a:xfrm rot="0" flipH="0" flipV="0">
            <a:off x="6673452" y="1137046"/>
            <a:ext cx="1291827" cy="1375171"/>
          </a:xfrm>
          <a:prstGeom prst="rect">
            <a:avLst/>
          </a:prstGeom>
          <a:solidFill>
            <a:srgbClr val="C00000">
              <a:alpha val="0"/>
            </a:srgbClr>
          </a:solidFill>
          <a:ln w="63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784796228" name=""/>
          <p:cNvCxnSpPr/>
          <p:nvPr/>
        </p:nvCxnSpPr>
        <p:spPr bwMode="auto">
          <a:xfrm flipH="1" flipV="0">
            <a:off x="7745015" y="1454531"/>
            <a:ext cx="563163" cy="271874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239831" name=""/>
          <p:cNvSpPr txBox="1"/>
          <p:nvPr/>
        </p:nvSpPr>
        <p:spPr bwMode="auto">
          <a:xfrm rot="0" flipH="0" flipV="0">
            <a:off x="7965281" y="2571749"/>
            <a:ext cx="12192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Серийные номера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cxnSp>
        <p:nvCxnSpPr>
          <p:cNvPr id="788110914" name=""/>
          <p:cNvCxnSpPr/>
          <p:nvPr/>
        </p:nvCxnSpPr>
        <p:spPr bwMode="auto">
          <a:xfrm flipH="1" flipV="1">
            <a:off x="7393781" y="2697622"/>
            <a:ext cx="853081" cy="165269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8410077" name=""/>
          <p:cNvSpPr txBox="1"/>
          <p:nvPr/>
        </p:nvSpPr>
        <p:spPr bwMode="auto">
          <a:xfrm rot="0" flipH="0" flipV="0">
            <a:off x="50553" y="2998829"/>
            <a:ext cx="904733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Эле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м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енты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управления</a:t>
            </a:r>
            <a:endParaRPr lang="ru-RU" sz="1100" b="1" i="0" u="none" strike="noStrike" cap="none" spc="0">
              <a:solidFill>
                <a:srgbClr val="C8D6E4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95502769" name="Линия 1474418487"/>
          <p:cNvCxnSpPr/>
          <p:nvPr/>
        </p:nvCxnSpPr>
        <p:spPr bwMode="auto">
          <a:xfrm rot="0" flipH="0" flipV="0">
            <a:off x="502920" y="3425909"/>
            <a:ext cx="669258" cy="497199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headEnd type="none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593760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Режим «Шкаф» - сверка перечня</a:t>
            </a:r>
            <a:endParaRPr lang="en-US" sz="2200"/>
          </a:p>
        </p:txBody>
      </p:sp>
      <p:sp>
        <p:nvSpPr>
          <p:cNvPr id="1198167518" name="Shape 28"/>
          <p:cNvSpPr/>
          <p:nvPr/>
        </p:nvSpPr>
        <p:spPr bwMode="auto">
          <a:xfrm flipH="0" flipV="0">
            <a:off x="457199" y="4645152"/>
            <a:ext cx="8633831" cy="274320"/>
          </a:xfrm>
          <a:prstGeom prst="rect">
            <a:avLst/>
          </a:prstGeom>
          <a:solidFill>
            <a:srgbClr val="5BA4CF">
              <a:alpha val="12000"/>
            </a:srgbClr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20336065" name="Text 29"/>
          <p:cNvSpPr/>
          <p:nvPr/>
        </p:nvSpPr>
        <p:spPr bwMode="auto"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14 позиций шкафа - 8 найдено, 6 - б/н. Видно мгновенно, без Excel-ручной сверки.</a:t>
            </a:r>
            <a:endParaRPr lang="en-US" sz="1000"/>
          </a:p>
        </p:txBody>
      </p:sp>
      <p:pic>
        <p:nvPicPr>
          <p:cNvPr id="8917130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0444" y="785812"/>
            <a:ext cx="7090983" cy="3805999"/>
          </a:xfrm>
          <a:prstGeom prst="rect">
            <a:avLst/>
          </a:prstGeom>
        </p:spPr>
      </p:pic>
      <p:sp>
        <p:nvSpPr>
          <p:cNvPr id="1614069898" name=""/>
          <p:cNvSpPr txBox="1"/>
          <p:nvPr/>
        </p:nvSpPr>
        <p:spPr bwMode="auto">
          <a:xfrm rot="0" flipH="0" flipV="0">
            <a:off x="2208609" y="658367"/>
            <a:ext cx="1683572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Загрузка перечня шкафа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cxnSp>
        <p:nvCxnSpPr>
          <p:cNvPr id="962556345" name=""/>
          <p:cNvCxnSpPr/>
          <p:nvPr/>
        </p:nvCxnSpPr>
        <p:spPr bwMode="auto">
          <a:xfrm flipH="1" flipV="0">
            <a:off x="2351484" y="915532"/>
            <a:ext cx="625078" cy="185795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0329622" name=""/>
          <p:cNvSpPr txBox="1"/>
          <p:nvPr/>
        </p:nvSpPr>
        <p:spPr bwMode="auto">
          <a:xfrm rot="0" flipH="0" flipV="0">
            <a:off x="-74291" y="915532"/>
            <a:ext cx="704736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Список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ea typeface="Calibri"/>
              <a:cs typeface="Calibri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позиций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7091706" name=""/>
          <p:cNvSpPr/>
          <p:nvPr/>
        </p:nvSpPr>
        <p:spPr bwMode="auto">
          <a:xfrm rot="0" flipH="0" flipV="0">
            <a:off x="630444" y="1226343"/>
            <a:ext cx="892968" cy="2053828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92001142" name=""/>
          <p:cNvCxnSpPr/>
          <p:nvPr/>
        </p:nvCxnSpPr>
        <p:spPr bwMode="auto">
          <a:xfrm flipH="0" flipV="0">
            <a:off x="243463" y="1342612"/>
            <a:ext cx="386980" cy="232467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0849077" name=""/>
          <p:cNvSpPr txBox="1"/>
          <p:nvPr/>
        </p:nvSpPr>
        <p:spPr bwMode="auto">
          <a:xfrm rot="0" flipH="0" flipV="0">
            <a:off x="5229156" y="266932"/>
            <a:ext cx="1471092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К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он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трольный прогон</a:t>
            </a:r>
            <a:endParaRPr lang="en-US" sz="1100" b="1" i="0" u="none" strike="noStrike" cap="none" spc="0">
              <a:solidFill>
                <a:srgbClr val="C8D6E4"/>
              </a:solidFill>
              <a:latin typeface="Calibri"/>
              <a:cs typeface="Calibri"/>
            </a:endParaRPr>
          </a:p>
        </p:txBody>
      </p:sp>
      <p:cxnSp>
        <p:nvCxnSpPr>
          <p:cNvPr id="117997364" name=""/>
          <p:cNvCxnSpPr/>
          <p:nvPr/>
        </p:nvCxnSpPr>
        <p:spPr bwMode="auto">
          <a:xfrm flipH="0" flipV="0">
            <a:off x="5881687" y="526372"/>
            <a:ext cx="422671" cy="259439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116582" name=""/>
          <p:cNvSpPr txBox="1"/>
          <p:nvPr/>
        </p:nvSpPr>
        <p:spPr bwMode="auto">
          <a:xfrm rot="0" flipH="0" flipV="0">
            <a:off x="7338942" y="334067"/>
            <a:ext cx="1351319" cy="259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Экспорт</a:t>
            </a:r>
            <a:r>
              <a:rPr lang="ru-RU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JSON/Excel</a:t>
            </a:r>
            <a:endParaRPr/>
          </a:p>
        </p:txBody>
      </p:sp>
      <p:cxnSp>
        <p:nvCxnSpPr>
          <p:cNvPr id="1471941073" name=""/>
          <p:cNvCxnSpPr>
            <a:stCxn id="500116582" idx="2"/>
          </p:cNvCxnSpPr>
          <p:nvPr/>
        </p:nvCxnSpPr>
        <p:spPr bwMode="auto">
          <a:xfrm rot="5400000" flipH="0" flipV="0">
            <a:off x="7548732" y="343306"/>
            <a:ext cx="192304" cy="692707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056917" name=""/>
          <p:cNvSpPr txBox="1"/>
          <p:nvPr/>
        </p:nvSpPr>
        <p:spPr bwMode="auto">
          <a:xfrm rot="0" flipH="0" flipV="0">
            <a:off x="7721427" y="2109332"/>
            <a:ext cx="143176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Список</a:t>
            </a:r>
            <a:r>
              <a:rPr lang="ru-RU" sz="16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i="0" u="none" strike="noStrike" cap="none" spc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результатов</a:t>
            </a:r>
            <a:endParaRPr lang="en-US" sz="1600" b="1" i="0" u="none" strike="noStrike" cap="none" spc="0">
              <a:solidFill>
                <a:srgbClr val="C8D6E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1801472" name=""/>
          <p:cNvSpPr/>
          <p:nvPr/>
        </p:nvSpPr>
        <p:spPr bwMode="auto">
          <a:xfrm rot="0" flipH="0" flipV="0">
            <a:off x="1660921" y="1575080"/>
            <a:ext cx="6006702" cy="2371840"/>
          </a:xfrm>
          <a:prstGeom prst="rect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46949738" name=""/>
          <p:cNvCxnSpPr/>
          <p:nvPr/>
        </p:nvCxnSpPr>
        <p:spPr bwMode="auto">
          <a:xfrm rot="5400000" flipH="0" flipV="0">
            <a:off x="7465325" y="2315647"/>
            <a:ext cx="129718" cy="382484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17751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Валидация и воспроизводимость</a:t>
            </a:r>
            <a:endParaRPr lang="en-US" sz="2200"/>
          </a:p>
        </p:txBody>
      </p:sp>
      <p:sp>
        <p:nvSpPr>
          <p:cNvPr id="2047428689" name="Shape 1"/>
          <p:cNvSpPr/>
          <p:nvPr/>
        </p:nvSpPr>
        <p:spPr bwMode="auto">
          <a:xfrm>
            <a:off x="457200" y="804672"/>
            <a:ext cx="4023360" cy="393192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15213646" name="Shape 2"/>
          <p:cNvSpPr/>
          <p:nvPr/>
        </p:nvSpPr>
        <p:spPr bwMode="auto">
          <a:xfrm>
            <a:off x="457200" y="804672"/>
            <a:ext cx="45720" cy="3931920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743059094" name="Text 3"/>
          <p:cNvSpPr/>
          <p:nvPr/>
        </p:nvSpPr>
        <p:spPr bwMode="auto">
          <a:xfrm>
            <a:off x="585216" y="877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Как устроен контрольный прогон</a:t>
            </a:r>
            <a:endParaRPr lang="en-US" sz="1200"/>
          </a:p>
        </p:txBody>
      </p:sp>
      <p:sp>
        <p:nvSpPr>
          <p:cNvPr id="1759371711" name="Text 4"/>
          <p:cNvSpPr/>
          <p:nvPr/>
        </p:nvSpPr>
        <p:spPr bwMode="auto">
          <a:xfrm>
            <a:off x="594360" y="1207008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C8D6E4"/>
                </a:solidFill>
              </a:rPr>
              <a:t>Эталон: samples/control_samples.json - 6 документов, 7 полей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C8D6E4"/>
                </a:solidFill>
              </a:rPr>
              <a:t>Запуск: кнопка «Контроль» в UI → POST /api/evaluate/control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Два режима: fast (OCR+rules, без LLM) и full (с LLM если включён)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Сравниваются только непустые поля expected - не «угадать всё»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Считаются: проверок (не-null expected), совпавших, точность = совп/пров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Результат: диалог с цифрами - Проверок / Совпало / Точность %</a:t>
            </a:r>
            <a:endParaRPr lang="en-US" sz="1000"/>
          </a:p>
        </p:txBody>
      </p:sp>
      <p:sp>
        <p:nvSpPr>
          <p:cNvPr id="472695804" name="Text 5"/>
          <p:cNvSpPr/>
          <p:nvPr/>
        </p:nvSpPr>
        <p:spPr bwMode="auto">
          <a:xfrm>
            <a:off x="466344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Содержимое control_samples.json</a:t>
            </a:r>
            <a:endParaRPr lang="en-US" sz="1200"/>
          </a:p>
        </p:txBody>
      </p:sp>
      <p:sp>
        <p:nvSpPr>
          <p:cNvPr id="856516733" name="Shape 6"/>
          <p:cNvSpPr/>
          <p:nvPr/>
        </p:nvSpPr>
        <p:spPr bwMode="auto">
          <a:xfrm>
            <a:off x="4663440" y="1152144"/>
            <a:ext cx="2286000" cy="393192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01939245" name="Text 7"/>
          <p:cNvSpPr/>
          <p:nvPr/>
        </p:nvSpPr>
        <p:spPr bwMode="auto">
          <a:xfrm>
            <a:off x="4718304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5BA4CF"/>
                </a:solidFill>
              </a:rPr>
              <a:t>Файл (сокращ.)</a:t>
            </a:r>
            <a:endParaRPr lang="en-US" sz="900"/>
          </a:p>
        </p:txBody>
      </p:sp>
      <p:sp>
        <p:nvSpPr>
          <p:cNvPr id="1351955613" name="Shape 8"/>
          <p:cNvSpPr/>
          <p:nvPr/>
        </p:nvSpPr>
        <p:spPr bwMode="auto">
          <a:xfrm>
            <a:off x="6949440" y="1152144"/>
            <a:ext cx="1325880" cy="393192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15279004" name="Text 9"/>
          <p:cNvSpPr/>
          <p:nvPr/>
        </p:nvSpPr>
        <p:spPr bwMode="auto">
          <a:xfrm>
            <a:off x="7004304" y="1207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5BA4CF"/>
                </a:solidFill>
              </a:rPr>
              <a:t>Тип</a:t>
            </a:r>
            <a:endParaRPr lang="en-US" sz="900"/>
          </a:p>
        </p:txBody>
      </p:sp>
      <p:sp>
        <p:nvSpPr>
          <p:cNvPr id="1238530378" name="Shape 10"/>
          <p:cNvSpPr/>
          <p:nvPr/>
        </p:nvSpPr>
        <p:spPr bwMode="auto">
          <a:xfrm>
            <a:off x="8275320" y="1152144"/>
            <a:ext cx="749808" cy="393192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916044168" name="Text 11"/>
          <p:cNvSpPr/>
          <p:nvPr/>
        </p:nvSpPr>
        <p:spPr bwMode="auto">
          <a:xfrm>
            <a:off x="8330184" y="12070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5BA4CF"/>
                </a:solidFill>
              </a:rPr>
              <a:t>Полей</a:t>
            </a:r>
            <a:endParaRPr lang="en-US" sz="900"/>
          </a:p>
        </p:txBody>
      </p:sp>
      <p:sp>
        <p:nvSpPr>
          <p:cNvPr id="1713204375" name="Shape 12"/>
          <p:cNvSpPr/>
          <p:nvPr/>
        </p:nvSpPr>
        <p:spPr bwMode="auto">
          <a:xfrm>
            <a:off x="4663440" y="1581912"/>
            <a:ext cx="228600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925330616" name="Text 13"/>
          <p:cNvSpPr/>
          <p:nvPr/>
        </p:nvSpPr>
        <p:spPr bwMode="auto">
          <a:xfrm>
            <a:off x="4718304" y="1636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Паспорт без с/н</a:t>
            </a:r>
            <a:endParaRPr lang="en-US" sz="900"/>
          </a:p>
        </p:txBody>
      </p:sp>
      <p:sp>
        <p:nvSpPr>
          <p:cNvPr id="434152801" name="Shape 14"/>
          <p:cNvSpPr/>
          <p:nvPr/>
        </p:nvSpPr>
        <p:spPr bwMode="auto">
          <a:xfrm>
            <a:off x="6949440" y="1581912"/>
            <a:ext cx="13258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83668960" name="Text 15"/>
          <p:cNvSpPr/>
          <p:nvPr/>
        </p:nvSpPr>
        <p:spPr bwMode="auto">
          <a:xfrm>
            <a:off x="7004304" y="16367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single_passport</a:t>
            </a:r>
            <a:endParaRPr lang="en-US" sz="900"/>
          </a:p>
        </p:txBody>
      </p:sp>
      <p:sp>
        <p:nvSpPr>
          <p:cNvPr id="210818738" name="Shape 16"/>
          <p:cNvSpPr/>
          <p:nvPr/>
        </p:nvSpPr>
        <p:spPr bwMode="auto">
          <a:xfrm>
            <a:off x="8275320" y="1581912"/>
            <a:ext cx="749808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184636241" name="Text 17"/>
          <p:cNvSpPr/>
          <p:nvPr/>
        </p:nvSpPr>
        <p:spPr bwMode="auto">
          <a:xfrm>
            <a:off x="8330184" y="16367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3</a:t>
            </a:r>
            <a:endParaRPr lang="en-US" sz="900"/>
          </a:p>
        </p:txBody>
      </p:sp>
      <p:sp>
        <p:nvSpPr>
          <p:cNvPr id="2057139043" name="Shape 18"/>
          <p:cNvSpPr/>
          <p:nvPr/>
        </p:nvSpPr>
        <p:spPr bwMode="auto">
          <a:xfrm>
            <a:off x="4663440" y="2011680"/>
            <a:ext cx="228600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57122994" name="Text 19"/>
          <p:cNvSpPr/>
          <p:nvPr/>
        </p:nvSpPr>
        <p:spPr bwMode="auto">
          <a:xfrm>
            <a:off x="4718304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Паспорт с 1 с/н</a:t>
            </a:r>
            <a:endParaRPr lang="en-US" sz="900"/>
          </a:p>
        </p:txBody>
      </p:sp>
      <p:sp>
        <p:nvSpPr>
          <p:cNvPr id="1388736908" name="Shape 20"/>
          <p:cNvSpPr/>
          <p:nvPr/>
        </p:nvSpPr>
        <p:spPr bwMode="auto">
          <a:xfrm>
            <a:off x="6949440" y="2011680"/>
            <a:ext cx="132588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3635960" name="Text 21"/>
          <p:cNvSpPr/>
          <p:nvPr/>
        </p:nvSpPr>
        <p:spPr bwMode="auto">
          <a:xfrm>
            <a:off x="7004304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single_passport</a:t>
            </a:r>
            <a:endParaRPr lang="en-US" sz="900"/>
          </a:p>
        </p:txBody>
      </p:sp>
      <p:sp>
        <p:nvSpPr>
          <p:cNvPr id="1661465199" name="Shape 22"/>
          <p:cNvSpPr/>
          <p:nvPr/>
        </p:nvSpPr>
        <p:spPr bwMode="auto">
          <a:xfrm>
            <a:off x="8275320" y="2011680"/>
            <a:ext cx="749808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23896497" name="Text 23"/>
          <p:cNvSpPr/>
          <p:nvPr/>
        </p:nvSpPr>
        <p:spPr bwMode="auto">
          <a:xfrm>
            <a:off x="8330184" y="20665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5</a:t>
            </a:r>
            <a:endParaRPr lang="en-US" sz="900"/>
          </a:p>
        </p:txBody>
      </p:sp>
      <p:sp>
        <p:nvSpPr>
          <p:cNvPr id="456782213" name="Shape 24"/>
          <p:cNvSpPr/>
          <p:nvPr/>
        </p:nvSpPr>
        <p:spPr bwMode="auto">
          <a:xfrm>
            <a:off x="4663440" y="2441448"/>
            <a:ext cx="228600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93139795" name="Text 25"/>
          <p:cNvSpPr/>
          <p:nvPr/>
        </p:nvSpPr>
        <p:spPr bwMode="auto">
          <a:xfrm>
            <a:off x="4718304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Групповой TECON TCC 8L</a:t>
            </a:r>
            <a:endParaRPr lang="en-US" sz="900"/>
          </a:p>
        </p:txBody>
      </p:sp>
      <p:sp>
        <p:nvSpPr>
          <p:cNvPr id="1997461194" name="Shape 26"/>
          <p:cNvSpPr/>
          <p:nvPr/>
        </p:nvSpPr>
        <p:spPr bwMode="auto">
          <a:xfrm>
            <a:off x="6949440" y="2441448"/>
            <a:ext cx="13258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11254307" name="Text 27"/>
          <p:cNvSpPr/>
          <p:nvPr/>
        </p:nvSpPr>
        <p:spPr bwMode="auto">
          <a:xfrm>
            <a:off x="7004304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group_passport</a:t>
            </a:r>
            <a:endParaRPr lang="en-US" sz="900"/>
          </a:p>
        </p:txBody>
      </p:sp>
      <p:sp>
        <p:nvSpPr>
          <p:cNvPr id="654581695" name="Shape 28"/>
          <p:cNvSpPr/>
          <p:nvPr/>
        </p:nvSpPr>
        <p:spPr bwMode="auto">
          <a:xfrm>
            <a:off x="8275320" y="2441448"/>
            <a:ext cx="749808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862442013" name="Text 29"/>
          <p:cNvSpPr/>
          <p:nvPr/>
        </p:nvSpPr>
        <p:spPr bwMode="auto">
          <a:xfrm>
            <a:off x="8330184" y="2496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5</a:t>
            </a:r>
            <a:endParaRPr lang="en-US" sz="900"/>
          </a:p>
        </p:txBody>
      </p:sp>
      <p:sp>
        <p:nvSpPr>
          <p:cNvPr id="2125884220" name="Shape 30"/>
          <p:cNvSpPr/>
          <p:nvPr/>
        </p:nvSpPr>
        <p:spPr bwMode="auto">
          <a:xfrm>
            <a:off x="4663440" y="2871216"/>
            <a:ext cx="228600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7790396" name="Text 31"/>
          <p:cNvSpPr/>
          <p:nvPr/>
        </p:nvSpPr>
        <p:spPr bwMode="auto">
          <a:xfrm>
            <a:off x="4718304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Шкаф / перечень</a:t>
            </a:r>
            <a:endParaRPr lang="en-US" sz="900"/>
          </a:p>
        </p:txBody>
      </p:sp>
      <p:sp>
        <p:nvSpPr>
          <p:cNvPr id="2028616724" name="Shape 32"/>
          <p:cNvSpPr/>
          <p:nvPr/>
        </p:nvSpPr>
        <p:spPr bwMode="auto">
          <a:xfrm>
            <a:off x="6949440" y="2871216"/>
            <a:ext cx="132588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3249274" name="Text 33"/>
          <p:cNvSpPr/>
          <p:nvPr/>
        </p:nvSpPr>
        <p:spPr bwMode="auto">
          <a:xfrm>
            <a:off x="7004304" y="2926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cabinet_list</a:t>
            </a:r>
            <a:endParaRPr lang="en-US" sz="900"/>
          </a:p>
        </p:txBody>
      </p:sp>
      <p:sp>
        <p:nvSpPr>
          <p:cNvPr id="713930801" name="Shape 34"/>
          <p:cNvSpPr/>
          <p:nvPr/>
        </p:nvSpPr>
        <p:spPr bwMode="auto">
          <a:xfrm>
            <a:off x="8275320" y="2871216"/>
            <a:ext cx="749808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77071439" name="Text 35"/>
          <p:cNvSpPr/>
          <p:nvPr/>
        </p:nvSpPr>
        <p:spPr bwMode="auto">
          <a:xfrm>
            <a:off x="8330184" y="29260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2</a:t>
            </a:r>
            <a:endParaRPr lang="en-US" sz="900"/>
          </a:p>
        </p:txBody>
      </p:sp>
      <p:sp>
        <p:nvSpPr>
          <p:cNvPr id="1196014327" name="Shape 36"/>
          <p:cNvSpPr/>
          <p:nvPr/>
        </p:nvSpPr>
        <p:spPr bwMode="auto">
          <a:xfrm>
            <a:off x="4663440" y="3300984"/>
            <a:ext cx="228600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953948956" name="Text 37"/>
          <p:cNvSpPr/>
          <p:nvPr/>
        </p:nvSpPr>
        <p:spPr bwMode="auto">
          <a:xfrm>
            <a:off x="4718304" y="3355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Разбор паспорта (.docx)</a:t>
            </a:r>
            <a:endParaRPr lang="en-US" sz="900"/>
          </a:p>
        </p:txBody>
      </p:sp>
      <p:sp>
        <p:nvSpPr>
          <p:cNvPr id="1999344434" name="Shape 38"/>
          <p:cNvSpPr/>
          <p:nvPr/>
        </p:nvSpPr>
        <p:spPr bwMode="auto">
          <a:xfrm>
            <a:off x="6949440" y="3300984"/>
            <a:ext cx="1325880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99536826" name="Text 39"/>
          <p:cNvSpPr/>
          <p:nvPr/>
        </p:nvSpPr>
        <p:spPr bwMode="auto">
          <a:xfrm>
            <a:off x="7004304" y="3355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884A"/>
                </a:solidFill>
              </a:rPr>
              <a:t>unknown</a:t>
            </a:r>
            <a:endParaRPr lang="en-US" sz="900"/>
          </a:p>
        </p:txBody>
      </p:sp>
      <p:sp>
        <p:nvSpPr>
          <p:cNvPr id="1924216015" name="Shape 40"/>
          <p:cNvSpPr/>
          <p:nvPr/>
        </p:nvSpPr>
        <p:spPr bwMode="auto">
          <a:xfrm>
            <a:off x="8275320" y="3300984"/>
            <a:ext cx="749808" cy="393192"/>
          </a:xfrm>
          <a:prstGeom prst="rect">
            <a:avLst/>
          </a:prstGeom>
          <a:solidFill>
            <a:srgbClr val="111827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138006430" name="Text 41"/>
          <p:cNvSpPr/>
          <p:nvPr/>
        </p:nvSpPr>
        <p:spPr bwMode="auto">
          <a:xfrm>
            <a:off x="8330184" y="3355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1</a:t>
            </a:r>
            <a:endParaRPr lang="en-US" sz="900"/>
          </a:p>
        </p:txBody>
      </p:sp>
      <p:sp>
        <p:nvSpPr>
          <p:cNvPr id="373226833" name="Shape 42"/>
          <p:cNvSpPr/>
          <p:nvPr/>
        </p:nvSpPr>
        <p:spPr bwMode="auto">
          <a:xfrm>
            <a:off x="4663440" y="3730752"/>
            <a:ext cx="228600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39463618" name="Text 43"/>
          <p:cNvSpPr/>
          <p:nvPr/>
        </p:nvSpPr>
        <p:spPr bwMode="auto">
          <a:xfrm>
            <a:off x="4718304" y="3785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Экранная форма</a:t>
            </a:r>
            <a:endParaRPr lang="en-US" sz="900"/>
          </a:p>
        </p:txBody>
      </p:sp>
      <p:sp>
        <p:nvSpPr>
          <p:cNvPr id="1960703818" name="Shape 44"/>
          <p:cNvSpPr/>
          <p:nvPr/>
        </p:nvSpPr>
        <p:spPr bwMode="auto">
          <a:xfrm>
            <a:off x="6949440" y="3730752"/>
            <a:ext cx="1325880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772490100" name="Text 45"/>
          <p:cNvSpPr/>
          <p:nvPr/>
        </p:nvSpPr>
        <p:spPr bwMode="auto">
          <a:xfrm>
            <a:off x="7004304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884A"/>
                </a:solidFill>
              </a:rPr>
              <a:t>unknown</a:t>
            </a:r>
            <a:endParaRPr lang="en-US" sz="900"/>
          </a:p>
        </p:txBody>
      </p:sp>
      <p:sp>
        <p:nvSpPr>
          <p:cNvPr id="255962105" name="Shape 46"/>
          <p:cNvSpPr/>
          <p:nvPr/>
        </p:nvSpPr>
        <p:spPr bwMode="auto">
          <a:xfrm>
            <a:off x="8275320" y="3730752"/>
            <a:ext cx="749808" cy="39319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84381030" name="Text 47"/>
          <p:cNvSpPr/>
          <p:nvPr/>
        </p:nvSpPr>
        <p:spPr bwMode="auto">
          <a:xfrm>
            <a:off x="8330184" y="37856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D6E4"/>
                </a:solidFill>
              </a:rPr>
              <a:t>1</a:t>
            </a:r>
            <a:endParaRPr lang="en-US" sz="900"/>
          </a:p>
        </p:txBody>
      </p:sp>
      <p:sp>
        <p:nvSpPr>
          <p:cNvPr id="341658399" name="Text 48"/>
          <p:cNvSpPr/>
          <p:nvPr/>
        </p:nvSpPr>
        <p:spPr bwMode="auto">
          <a:xfrm>
            <a:off x="4663440" y="40965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Точность = совпавших полей / непустых expected × 100%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Метрика корректна только для данной контрольной выборки.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377808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Качество распознавания - честные цифры</a:t>
            </a:r>
            <a:endParaRPr lang="en-US" sz="2200"/>
          </a:p>
        </p:txBody>
      </p:sp>
      <p:sp>
        <p:nvSpPr>
          <p:cNvPr id="1897456196" name="Shape 1"/>
          <p:cNvSpPr/>
          <p:nvPr/>
        </p:nvSpPr>
        <p:spPr bwMode="auto">
          <a:xfrm>
            <a:off x="457200" y="804672"/>
            <a:ext cx="1874520" cy="1234440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810395154" name="Text 2"/>
          <p:cNvSpPr/>
          <p:nvPr/>
        </p:nvSpPr>
        <p:spPr bwMode="auto">
          <a:xfrm>
            <a:off x="457200" y="877824"/>
            <a:ext cx="1874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4EA87A"/>
                </a:solidFill>
              </a:rPr>
              <a:t>86-90%</a:t>
            </a:r>
            <a:endParaRPr lang="en-US" sz="2800"/>
          </a:p>
        </p:txBody>
      </p:sp>
      <p:sp>
        <p:nvSpPr>
          <p:cNvPr id="1258306846" name="Text 3"/>
          <p:cNvSpPr/>
          <p:nvPr/>
        </p:nvSpPr>
        <p:spPr bwMode="auto">
          <a:xfrm>
            <a:off x="457200" y="1545336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Quality Score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(одиночные PDF)</a:t>
            </a:r>
            <a:endParaRPr lang="en-US" sz="900"/>
          </a:p>
        </p:txBody>
      </p:sp>
      <p:sp>
        <p:nvSpPr>
          <p:cNvPr id="671223984" name="Shape 4"/>
          <p:cNvSpPr/>
          <p:nvPr/>
        </p:nvSpPr>
        <p:spPr bwMode="auto">
          <a:xfrm>
            <a:off x="2468880" y="804672"/>
            <a:ext cx="1874520" cy="1234440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27675804" name="Text 5"/>
          <p:cNvSpPr/>
          <p:nvPr/>
        </p:nvSpPr>
        <p:spPr bwMode="auto">
          <a:xfrm>
            <a:off x="2459735" y="877824"/>
            <a:ext cx="1874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BA4CF"/>
                </a:solidFill>
              </a:rPr>
              <a:t>20/20</a:t>
            </a:r>
            <a:endParaRPr lang="en-US" sz="2800"/>
          </a:p>
        </p:txBody>
      </p:sp>
      <p:sp>
        <p:nvSpPr>
          <p:cNvPr id="304922667" name="Text 6"/>
          <p:cNvSpPr/>
          <p:nvPr/>
        </p:nvSpPr>
        <p:spPr bwMode="auto">
          <a:xfrm>
            <a:off x="2459735" y="157002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Контрольный прогон</a:t>
            </a:r>
            <a:endParaRPr lang="en-US" sz="900"/>
          </a:p>
          <a:p>
            <a:pPr marL="0" indent="0" algn="ctr">
              <a:buNone/>
              <a:defRPr/>
            </a:pPr>
            <a:r>
              <a:rPr lang="ru-RU" sz="900">
                <a:solidFill>
                  <a:srgbClr val="6B8299"/>
                </a:solidFill>
              </a:rPr>
              <a:t>В демо: </a:t>
            </a:r>
            <a:r>
              <a:rPr lang="en-US" sz="900">
                <a:solidFill>
                  <a:srgbClr val="6B8299"/>
                </a:solidFill>
              </a:rPr>
              <a:t>OCR+rules,</a:t>
            </a:r>
            <a:r>
              <a:rPr lang="ru-RU" sz="900">
                <a:solidFill>
                  <a:srgbClr val="6B8299"/>
                </a:solidFill>
              </a:rPr>
              <a:t> </a:t>
            </a:r>
            <a:r>
              <a:rPr lang="en-US" sz="900">
                <a:solidFill>
                  <a:srgbClr val="6B8299"/>
                </a:solidFill>
              </a:rPr>
              <a:t>LLM</a:t>
            </a:r>
            <a:r>
              <a:rPr lang="ru-RU" sz="900">
                <a:solidFill>
                  <a:srgbClr val="6B8299"/>
                </a:solidFill>
              </a:rPr>
              <a:t> выключен</a:t>
            </a:r>
            <a:r>
              <a:rPr lang="en-US" sz="900">
                <a:solidFill>
                  <a:srgbClr val="6B8299"/>
                </a:solidFill>
              </a:rPr>
              <a:t>)</a:t>
            </a:r>
            <a:endParaRPr lang="en-US" sz="900"/>
          </a:p>
        </p:txBody>
      </p:sp>
      <p:sp>
        <p:nvSpPr>
          <p:cNvPr id="1279471282" name="Shape 7"/>
          <p:cNvSpPr/>
          <p:nvPr/>
        </p:nvSpPr>
        <p:spPr bwMode="auto">
          <a:xfrm>
            <a:off x="4480560" y="804672"/>
            <a:ext cx="1874520" cy="1234440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60885747" name="Text 8"/>
          <p:cNvSpPr/>
          <p:nvPr/>
        </p:nvSpPr>
        <p:spPr bwMode="auto">
          <a:xfrm>
            <a:off x="4480560" y="877824"/>
            <a:ext cx="1874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8884A"/>
                </a:solidFill>
              </a:rPr>
              <a:t>5-30 с</a:t>
            </a:r>
            <a:endParaRPr lang="en-US" sz="2800"/>
          </a:p>
        </p:txBody>
      </p:sp>
      <p:sp>
        <p:nvSpPr>
          <p:cNvPr id="1016823417" name="Text 9"/>
          <p:cNvSpPr/>
          <p:nvPr/>
        </p:nvSpPr>
        <p:spPr bwMode="auto">
          <a:xfrm>
            <a:off x="4480560" y="1545336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Время обработки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(зависит от страниц/LLM)</a:t>
            </a:r>
            <a:endParaRPr lang="en-US" sz="900"/>
          </a:p>
        </p:txBody>
      </p:sp>
      <p:sp>
        <p:nvSpPr>
          <p:cNvPr id="1198455231" name="Shape 10"/>
          <p:cNvSpPr/>
          <p:nvPr/>
        </p:nvSpPr>
        <p:spPr bwMode="auto">
          <a:xfrm>
            <a:off x="6492240" y="804672"/>
            <a:ext cx="1874520" cy="1234440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965520899" name="Text 11"/>
          <p:cNvSpPr/>
          <p:nvPr/>
        </p:nvSpPr>
        <p:spPr bwMode="auto">
          <a:xfrm>
            <a:off x="6492240" y="877824"/>
            <a:ext cx="18745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6B8299"/>
                </a:solidFill>
              </a:rPr>
              <a:t>4 типа</a:t>
            </a:r>
            <a:endParaRPr lang="en-US" sz="2800"/>
          </a:p>
        </p:txBody>
      </p:sp>
      <p:sp>
        <p:nvSpPr>
          <p:cNvPr id="1642542716" name="Text 12"/>
          <p:cNvSpPr/>
          <p:nvPr/>
        </p:nvSpPr>
        <p:spPr bwMode="auto">
          <a:xfrm>
            <a:off x="6492240" y="1545336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document_type: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single/group/cabinet/unknown</a:t>
            </a:r>
            <a:endParaRPr lang="en-US" sz="900"/>
          </a:p>
        </p:txBody>
      </p:sp>
      <p:sp>
        <p:nvSpPr>
          <p:cNvPr id="1870472066" name="Shape 13"/>
          <p:cNvSpPr/>
          <p:nvPr/>
        </p:nvSpPr>
        <p:spPr bwMode="auto">
          <a:xfrm>
            <a:off x="457200" y="2212848"/>
            <a:ext cx="3931920" cy="246888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999689154" name="Shape 14"/>
          <p:cNvSpPr/>
          <p:nvPr/>
        </p:nvSpPr>
        <p:spPr bwMode="auto">
          <a:xfrm>
            <a:off x="457200" y="2212848"/>
            <a:ext cx="45720" cy="2468880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999756103" name="Text 15"/>
          <p:cNvSpPr/>
          <p:nvPr/>
        </p:nvSpPr>
        <p:spPr bwMode="auto">
          <a:xfrm>
            <a:off x="585216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Условия для цифр</a:t>
            </a:r>
            <a:endParaRPr lang="en-US" sz="1200"/>
          </a:p>
        </p:txBody>
      </p:sp>
      <p:sp>
        <p:nvSpPr>
          <p:cNvPr id="605735966" name="Text 16"/>
          <p:cNvSpPr/>
          <p:nvPr/>
        </p:nvSpPr>
        <p:spPr bwMode="auto">
          <a:xfrm>
            <a:off x="585216" y="2615184"/>
            <a:ext cx="37307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86-90% - качество на 1-страничных паспортах со встроенным текстом (embedded)</a:t>
            </a:r>
            <a:endParaRPr lang="en-US" sz="1000"/>
          </a:p>
          <a:p>
            <a:pPr marL="342900" marR="0" indent="-342900" algn="l">
              <a:lnSpc>
                <a:spcPct val="100000"/>
              </a:lnSpc>
              <a:spcBef>
                <a:spcPts val="0"/>
              </a:spcBef>
              <a:spcAft>
                <a:spcPts val="299"/>
              </a:spcAft>
              <a:buSzPct val="100000"/>
              <a:buChar char="•"/>
              <a:defRPr/>
            </a:pPr>
            <a:r>
              <a:rPr lang="en-US" sz="1000" b="0" i="0" u="none" strike="noStrike" cap="none" spc="0">
                <a:solidFill>
                  <a:srgbClr val="6B8299"/>
                </a:solidFill>
                <a:latin typeface="Calibri"/>
                <a:ea typeface="Calibri"/>
                <a:cs typeface="Calibri"/>
              </a:rPr>
              <a:t>20/20 — результат контрольной выборки в режиме full; в текущем демо LLM отключён</a:t>
            </a:r>
            <a:r>
              <a:rPr lang="en-US" sz="1000" b="0" i="0" u="none" strike="noStrike" cap="none" spc="0">
                <a:solidFill>
                  <a:srgbClr val="6B8299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00" b="0" i="0" u="none" strike="noStrike" cap="none" spc="0">
              <a:solidFill>
                <a:srgbClr val="6B8299"/>
              </a:solidFill>
              <a:latin typeface="Calibri"/>
              <a:cs typeface="Calibri"/>
            </a:endParaRPr>
          </a:p>
          <a:p>
            <a:pPr marL="342900" marR="0" indent="-342900" algn="l">
              <a:lnSpc>
                <a:spcPct val="100000"/>
              </a:lnSpc>
              <a:spcBef>
                <a:spcPts val="0"/>
              </a:spcBef>
              <a:spcAft>
                <a:spcPts val="299"/>
              </a:spcAft>
              <a:buSzPct val="100000"/>
              <a:buChar char="•"/>
              <a:defRPr/>
            </a:pPr>
            <a:r>
              <a:rPr lang="en-US" sz="1000" b="0" i="0" u="none" strike="noStrike" cap="none" spc="0">
                <a:solidFill>
                  <a:srgbClr val="6B8299"/>
                </a:solidFill>
                <a:latin typeface="Calibri"/>
                <a:ea typeface="Calibri"/>
                <a:cs typeface="Calibri"/>
              </a:rPr>
              <a:t>5-30 с - диапазон: 5 с для embedded PDF, 30+ с для скана + полный LLM</a:t>
            </a:r>
            <a:endParaRPr lang="en-US" sz="1000" b="0" i="0" u="none" strike="noStrike" cap="none" spc="0">
              <a:solidFill>
                <a:srgbClr val="6B8299"/>
              </a:solidFill>
              <a:latin typeface="Calibri"/>
              <a:cs typeface="Calibri"/>
            </a:endParaRPr>
          </a:p>
          <a:p>
            <a:pPr marL="342900" marR="0" indent="-342900" algn="l">
              <a:lnSpc>
                <a:spcPct val="100000"/>
              </a:lnSpc>
              <a:spcBef>
                <a:spcPts val="0"/>
              </a:spcBef>
              <a:spcAft>
                <a:spcPts val="299"/>
              </a:spcAft>
              <a:buSzPct val="100000"/>
              <a:buChar char="•"/>
              <a:defRPr/>
            </a:pPr>
            <a:r>
              <a:rPr lang="en-US" sz="1000" b="0" i="0" u="none" strike="noStrike" cap="none" spc="0">
                <a:solidFill>
                  <a:srgbClr val="6B8299"/>
                </a:solidFill>
                <a:latin typeface="Calibri"/>
                <a:ea typeface="Calibri"/>
                <a:cs typeface="Calibri"/>
              </a:rPr>
              <a:t>Точность на шумных/рукописных сканах б</a:t>
            </a:r>
            <a:r>
              <a:rPr lang="en-US" sz="1000">
                <a:solidFill>
                  <a:srgbClr val="6B8299"/>
                </a:solidFill>
              </a:rPr>
              <a:t>ез ручной правки - ниже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Quality Score формируется по весам заполненных ключевых полей</a:t>
            </a:r>
            <a:endParaRPr lang="en-US" sz="1000"/>
          </a:p>
        </p:txBody>
      </p:sp>
      <p:sp>
        <p:nvSpPr>
          <p:cNvPr id="1824036119" name="Shape 17"/>
          <p:cNvSpPr/>
          <p:nvPr/>
        </p:nvSpPr>
        <p:spPr bwMode="auto">
          <a:xfrm>
            <a:off x="4572000" y="2212848"/>
            <a:ext cx="4114800" cy="246888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489518581" name="Shape 18"/>
          <p:cNvSpPr/>
          <p:nvPr/>
        </p:nvSpPr>
        <p:spPr bwMode="auto">
          <a:xfrm>
            <a:off x="4572000" y="2212848"/>
            <a:ext cx="45720" cy="246888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256086790" name="Text 19"/>
          <p:cNvSpPr/>
          <p:nvPr/>
        </p:nvSpPr>
        <p:spPr bwMode="auto">
          <a:xfrm>
            <a:off x="4700016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Что снижает точность</a:t>
            </a:r>
            <a:endParaRPr lang="en-US" sz="1200"/>
          </a:p>
        </p:txBody>
      </p:sp>
      <p:sp>
        <p:nvSpPr>
          <p:cNvPr id="1916135401" name="Text 20"/>
          <p:cNvSpPr/>
          <p:nvPr/>
        </p:nvSpPr>
        <p:spPr bwMode="auto">
          <a:xfrm>
            <a:off x="4700016" y="2615184"/>
            <a:ext cx="39136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Нечитаемый или повёрнутый скан → нужна ручная правка в UI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Нестандартный макет производителя → тип может стать unknown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LLM отключён, embedded text &lt; 120 символов → OCR по растру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Штрихкод строится только из A-Z 0-9 дефис, обрезается до 20 символов</a:t>
            </a:r>
            <a:endParaRPr lang="en-US" sz="100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6B8299"/>
                </a:solidFill>
              </a:rPr>
              <a:t>Групповые паспорта сложнее: много серийных номеров → выше риск пропуска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77626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Экспорт: Excel и 1С JSON</a:t>
            </a:r>
            <a:endParaRPr lang="en-US" sz="2200"/>
          </a:p>
        </p:txBody>
      </p:sp>
      <p:sp>
        <p:nvSpPr>
          <p:cNvPr id="1540319062" name="Shape 1"/>
          <p:cNvSpPr/>
          <p:nvPr/>
        </p:nvSpPr>
        <p:spPr bwMode="auto">
          <a:xfrm>
            <a:off x="457200" y="749808"/>
            <a:ext cx="237744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5BA4CF"/>
            </a:solidFill>
            <a:prstDash val="solid"/>
          </a:ln>
        </p:spPr>
      </p:sp>
      <p:pic>
        <p:nvPicPr>
          <p:cNvPr id="56310821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17320" y="804672"/>
            <a:ext cx="384048" cy="384048"/>
          </a:xfrm>
          <a:prstGeom prst="rect">
            <a:avLst/>
          </a:prstGeom>
        </p:spPr>
      </p:pic>
      <p:sp>
        <p:nvSpPr>
          <p:cNvPr id="1960390021" name="Text 2"/>
          <p:cNvSpPr/>
          <p:nvPr/>
        </p:nvSpPr>
        <p:spPr bwMode="auto">
          <a:xfrm>
            <a:off x="548640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Реестр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в памяти</a:t>
            </a:r>
            <a:endParaRPr lang="en-US" sz="1200"/>
          </a:p>
        </p:txBody>
      </p:sp>
      <p:sp>
        <p:nvSpPr>
          <p:cNvPr id="400104092" name="Text 3"/>
          <p:cNvSpPr/>
          <p:nvPr/>
        </p:nvSpPr>
        <p:spPr bwMode="auto">
          <a:xfrm>
            <a:off x="2852928" y="10058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BA4CF"/>
                </a:solidFill>
              </a:rPr>
              <a:t>→</a:t>
            </a:r>
            <a:endParaRPr lang="en-US" sz="1800"/>
          </a:p>
        </p:txBody>
      </p:sp>
      <p:sp>
        <p:nvSpPr>
          <p:cNvPr id="1213749625" name="Shape 4"/>
          <p:cNvSpPr/>
          <p:nvPr/>
        </p:nvSpPr>
        <p:spPr bwMode="auto">
          <a:xfrm>
            <a:off x="3200400" y="749808"/>
            <a:ext cx="237744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4EA87A"/>
            </a:solidFill>
            <a:prstDash val="solid"/>
          </a:ln>
        </p:spPr>
      </p:sp>
      <p:pic>
        <p:nvPicPr>
          <p:cNvPr id="163706261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60519" y="804672"/>
            <a:ext cx="384048" cy="384048"/>
          </a:xfrm>
          <a:prstGeom prst="rect">
            <a:avLst/>
          </a:prstGeom>
        </p:spPr>
      </p:pic>
      <p:sp>
        <p:nvSpPr>
          <p:cNvPr id="1477575134" name="Text 5"/>
          <p:cNvSpPr/>
          <p:nvPr/>
        </p:nvSpPr>
        <p:spPr bwMode="auto">
          <a:xfrm>
            <a:off x="3291840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Excel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.xlsx</a:t>
            </a:r>
            <a:endParaRPr lang="en-US" sz="1200"/>
          </a:p>
        </p:txBody>
      </p:sp>
      <p:sp>
        <p:nvSpPr>
          <p:cNvPr id="897224149" name="Text 6"/>
          <p:cNvSpPr/>
          <p:nvPr/>
        </p:nvSpPr>
        <p:spPr bwMode="auto">
          <a:xfrm>
            <a:off x="5596128" y="10058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BA4CF"/>
                </a:solidFill>
              </a:rPr>
              <a:t>→</a:t>
            </a:r>
            <a:endParaRPr lang="en-US" sz="1800"/>
          </a:p>
        </p:txBody>
      </p:sp>
      <p:sp>
        <p:nvSpPr>
          <p:cNvPr id="166434253" name="Shape 7"/>
          <p:cNvSpPr/>
          <p:nvPr/>
        </p:nvSpPr>
        <p:spPr bwMode="auto">
          <a:xfrm>
            <a:off x="5943600" y="749808"/>
            <a:ext cx="237744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C8884A"/>
            </a:solidFill>
            <a:prstDash val="solid"/>
          </a:ln>
        </p:spPr>
      </p:sp>
      <p:pic>
        <p:nvPicPr>
          <p:cNvPr id="210678114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903720" y="804672"/>
            <a:ext cx="384048" cy="384048"/>
          </a:xfrm>
          <a:prstGeom prst="rect">
            <a:avLst/>
          </a:prstGeom>
        </p:spPr>
      </p:pic>
      <p:sp>
        <p:nvSpPr>
          <p:cNvPr id="1676988256" name="Text 8"/>
          <p:cNvSpPr/>
          <p:nvPr/>
        </p:nvSpPr>
        <p:spPr bwMode="auto">
          <a:xfrm>
            <a:off x="6035039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1С JSON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/ импорт</a:t>
            </a:r>
            <a:endParaRPr lang="en-US" sz="1200"/>
          </a:p>
        </p:txBody>
      </p:sp>
      <p:sp>
        <p:nvSpPr>
          <p:cNvPr id="2095832970" name="Text 9"/>
          <p:cNvSpPr/>
          <p:nvPr/>
        </p:nvSpPr>
        <p:spPr bwMode="auto"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Листы в файле Паспорта_реестр.xlsx:</a:t>
            </a:r>
            <a:endParaRPr lang="en-US" sz="1200"/>
          </a:p>
        </p:txBody>
      </p:sp>
      <p:sp>
        <p:nvSpPr>
          <p:cNvPr id="679957036" name="Shape 10"/>
          <p:cNvSpPr/>
          <p:nvPr/>
        </p:nvSpPr>
        <p:spPr bwMode="auto">
          <a:xfrm>
            <a:off x="457200" y="2267712"/>
            <a:ext cx="1508759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4720708" name="Text 11"/>
          <p:cNvSpPr/>
          <p:nvPr/>
        </p:nvSpPr>
        <p:spPr bwMode="auto">
          <a:xfrm>
            <a:off x="512064" y="2304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Паспорта</a:t>
            </a:r>
            <a:endParaRPr lang="en-US" sz="1000"/>
          </a:p>
        </p:txBody>
      </p:sp>
      <p:sp>
        <p:nvSpPr>
          <p:cNvPr id="266420573" name="Shape 12"/>
          <p:cNvSpPr/>
          <p:nvPr/>
        </p:nvSpPr>
        <p:spPr bwMode="auto">
          <a:xfrm>
            <a:off x="1965960" y="2267712"/>
            <a:ext cx="82296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667991630" name="Text 13"/>
          <p:cNvSpPr/>
          <p:nvPr/>
        </p:nvSpPr>
        <p:spPr bwMode="auto">
          <a:xfrm>
            <a:off x="2020824" y="2304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1069920149" name="Shape 14"/>
          <p:cNvSpPr/>
          <p:nvPr/>
        </p:nvSpPr>
        <p:spPr bwMode="auto">
          <a:xfrm>
            <a:off x="2788920" y="2267712"/>
            <a:ext cx="566928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944157915" name="Text 15"/>
          <p:cNvSpPr/>
          <p:nvPr/>
        </p:nvSpPr>
        <p:spPr bwMode="auto">
          <a:xfrm>
            <a:off x="2843784" y="2304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Тип, качество, флаги, поля паспорта</a:t>
            </a:r>
            <a:endParaRPr lang="en-US" sz="900"/>
          </a:p>
        </p:txBody>
      </p:sp>
      <p:sp>
        <p:nvSpPr>
          <p:cNvPr id="224596355" name="Shape 16"/>
          <p:cNvSpPr/>
          <p:nvPr/>
        </p:nvSpPr>
        <p:spPr bwMode="auto">
          <a:xfrm>
            <a:off x="457200" y="2560320"/>
            <a:ext cx="1508759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208854148" name="Text 17"/>
          <p:cNvSpPr/>
          <p:nvPr/>
        </p:nvSpPr>
        <p:spPr bwMode="auto">
          <a:xfrm>
            <a:off x="512064" y="2596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Серийные номера</a:t>
            </a:r>
            <a:endParaRPr lang="en-US" sz="1000"/>
          </a:p>
        </p:txBody>
      </p:sp>
      <p:sp>
        <p:nvSpPr>
          <p:cNvPr id="236946970" name="Shape 18"/>
          <p:cNvSpPr/>
          <p:nvPr/>
        </p:nvSpPr>
        <p:spPr bwMode="auto">
          <a:xfrm>
            <a:off x="1965960" y="2560320"/>
            <a:ext cx="82296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93038709" name="Text 19"/>
          <p:cNvSpPr/>
          <p:nvPr/>
        </p:nvSpPr>
        <p:spPr bwMode="auto">
          <a:xfrm>
            <a:off x="2020824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2019798358" name="Shape 20"/>
          <p:cNvSpPr/>
          <p:nvPr/>
        </p:nvSpPr>
        <p:spPr bwMode="auto">
          <a:xfrm>
            <a:off x="2788920" y="2560320"/>
            <a:ext cx="566928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746773466" name="Text 21"/>
          <p:cNvSpPr/>
          <p:nvPr/>
        </p:nvSpPr>
        <p:spPr bwMode="auto">
          <a:xfrm>
            <a:off x="2843784" y="259689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Каждый с/н привязан к своему паспорту</a:t>
            </a:r>
            <a:endParaRPr lang="en-US" sz="900"/>
          </a:p>
        </p:txBody>
      </p:sp>
      <p:sp>
        <p:nvSpPr>
          <p:cNvPr id="956896654" name="Shape 22"/>
          <p:cNvSpPr/>
          <p:nvPr/>
        </p:nvSpPr>
        <p:spPr bwMode="auto">
          <a:xfrm>
            <a:off x="457200" y="2852928"/>
            <a:ext cx="1508759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81549531" name="Text 23"/>
          <p:cNvSpPr/>
          <p:nvPr/>
        </p:nvSpPr>
        <p:spPr bwMode="auto">
          <a:xfrm>
            <a:off x="512064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Нормативы</a:t>
            </a:r>
            <a:endParaRPr lang="en-US" sz="1000"/>
          </a:p>
        </p:txBody>
      </p:sp>
      <p:sp>
        <p:nvSpPr>
          <p:cNvPr id="1829036950" name="Shape 24"/>
          <p:cNvSpPr/>
          <p:nvPr/>
        </p:nvSpPr>
        <p:spPr bwMode="auto">
          <a:xfrm>
            <a:off x="1965960" y="2852928"/>
            <a:ext cx="82296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227346663" name="Text 25"/>
          <p:cNvSpPr/>
          <p:nvPr/>
        </p:nvSpPr>
        <p:spPr bwMode="auto">
          <a:xfrm>
            <a:off x="2020824" y="2889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1725878617" name="Shape 26"/>
          <p:cNvSpPr/>
          <p:nvPr/>
        </p:nvSpPr>
        <p:spPr bwMode="auto">
          <a:xfrm>
            <a:off x="2788920" y="2852928"/>
            <a:ext cx="566928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81071469" name="Text 27"/>
          <p:cNvSpPr/>
          <p:nvPr/>
        </p:nvSpPr>
        <p:spPr bwMode="auto">
          <a:xfrm>
            <a:off x="2843784" y="288950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Гарантия, срок службы, сертификаты, нормативные доки</a:t>
            </a:r>
            <a:endParaRPr lang="en-US" sz="900"/>
          </a:p>
        </p:txBody>
      </p:sp>
      <p:sp>
        <p:nvSpPr>
          <p:cNvPr id="2103995460" name="Shape 28"/>
          <p:cNvSpPr/>
          <p:nvPr/>
        </p:nvSpPr>
        <p:spPr bwMode="auto">
          <a:xfrm>
            <a:off x="457200" y="3145536"/>
            <a:ext cx="1508759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8960661" name="Text 29"/>
          <p:cNvSpPr/>
          <p:nvPr/>
        </p:nvSpPr>
        <p:spPr bwMode="auto">
          <a:xfrm>
            <a:off x="512064" y="31821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1С_Импорт</a:t>
            </a:r>
            <a:endParaRPr lang="en-US" sz="1000"/>
          </a:p>
        </p:txBody>
      </p:sp>
      <p:sp>
        <p:nvSpPr>
          <p:cNvPr id="1266163936" name="Shape 30"/>
          <p:cNvSpPr/>
          <p:nvPr/>
        </p:nvSpPr>
        <p:spPr bwMode="auto">
          <a:xfrm>
            <a:off x="1965960" y="3145536"/>
            <a:ext cx="82296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715530040" name="Text 31"/>
          <p:cNvSpPr/>
          <p:nvPr/>
        </p:nvSpPr>
        <p:spPr bwMode="auto">
          <a:xfrm>
            <a:off x="2020824" y="31821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393045371" name="Shape 32"/>
          <p:cNvSpPr/>
          <p:nvPr/>
        </p:nvSpPr>
        <p:spPr bwMode="auto">
          <a:xfrm>
            <a:off x="2788920" y="3145536"/>
            <a:ext cx="566928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886137768" name="Text 33"/>
          <p:cNvSpPr/>
          <p:nvPr/>
        </p:nvSpPr>
        <p:spPr bwMode="auto">
          <a:xfrm>
            <a:off x="2843784" y="318211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Плоская таблица для загрузки в 1С через ImportFromExcel</a:t>
            </a:r>
            <a:endParaRPr lang="en-US" sz="900"/>
          </a:p>
        </p:txBody>
      </p:sp>
      <p:sp>
        <p:nvSpPr>
          <p:cNvPr id="315622394" name="Shape 34"/>
          <p:cNvSpPr/>
          <p:nvPr/>
        </p:nvSpPr>
        <p:spPr bwMode="auto">
          <a:xfrm>
            <a:off x="457200" y="3438144"/>
            <a:ext cx="1508759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581877377" name="Text 35"/>
          <p:cNvSpPr/>
          <p:nvPr/>
        </p:nvSpPr>
        <p:spPr bwMode="auto">
          <a:xfrm>
            <a:off x="512064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1С_Ошибки</a:t>
            </a:r>
            <a:endParaRPr lang="en-US" sz="1000"/>
          </a:p>
        </p:txBody>
      </p:sp>
      <p:sp>
        <p:nvSpPr>
          <p:cNvPr id="915961321" name="Shape 36"/>
          <p:cNvSpPr/>
          <p:nvPr/>
        </p:nvSpPr>
        <p:spPr bwMode="auto">
          <a:xfrm>
            <a:off x="1965960" y="3438144"/>
            <a:ext cx="82296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07101032" name="Text 37"/>
          <p:cNvSpPr/>
          <p:nvPr/>
        </p:nvSpPr>
        <p:spPr bwMode="auto">
          <a:xfrm>
            <a:off x="2020824" y="3474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884A"/>
                </a:solidFill>
              </a:rPr>
              <a:t>Если есть</a:t>
            </a:r>
            <a:endParaRPr lang="en-US" sz="900"/>
          </a:p>
        </p:txBody>
      </p:sp>
      <p:sp>
        <p:nvSpPr>
          <p:cNvPr id="1048770122" name="Shape 38"/>
          <p:cNvSpPr/>
          <p:nvPr/>
        </p:nvSpPr>
        <p:spPr bwMode="auto">
          <a:xfrm>
            <a:off x="2788920" y="3438144"/>
            <a:ext cx="566928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141447623" name="Text 39"/>
          <p:cNvSpPr/>
          <p:nvPr/>
        </p:nvSpPr>
        <p:spPr bwMode="auto">
          <a:xfrm>
            <a:off x="2843784" y="347472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Проблемные строки, не прошедшие валидацию для 1С</a:t>
            </a:r>
            <a:endParaRPr lang="en-US" sz="900"/>
          </a:p>
        </p:txBody>
      </p:sp>
      <p:sp>
        <p:nvSpPr>
          <p:cNvPr id="932978818" name="Shape 40"/>
          <p:cNvSpPr/>
          <p:nvPr/>
        </p:nvSpPr>
        <p:spPr bwMode="auto">
          <a:xfrm>
            <a:off x="457200" y="3730752"/>
            <a:ext cx="1508759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966282456" name="Text 41"/>
          <p:cNvSpPr/>
          <p:nvPr/>
        </p:nvSpPr>
        <p:spPr bwMode="auto">
          <a:xfrm>
            <a:off x="512064" y="3767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Чек-лист</a:t>
            </a:r>
            <a:endParaRPr lang="en-US" sz="1000"/>
          </a:p>
        </p:txBody>
      </p:sp>
      <p:sp>
        <p:nvSpPr>
          <p:cNvPr id="1894621502" name="Shape 42"/>
          <p:cNvSpPr/>
          <p:nvPr/>
        </p:nvSpPr>
        <p:spPr bwMode="auto">
          <a:xfrm>
            <a:off x="1965960" y="3730752"/>
            <a:ext cx="82296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35771216" name="Text 43"/>
          <p:cNvSpPr/>
          <p:nvPr/>
        </p:nvSpPr>
        <p:spPr bwMode="auto">
          <a:xfrm>
            <a:off x="2020824" y="3767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515644690" name="Shape 44"/>
          <p:cNvSpPr/>
          <p:nvPr/>
        </p:nvSpPr>
        <p:spPr bwMode="auto">
          <a:xfrm>
            <a:off x="2788920" y="3730752"/>
            <a:ext cx="566928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66920223" name="Text 45"/>
          <p:cNvSpPr/>
          <p:nvPr/>
        </p:nvSpPr>
        <p:spPr bwMode="auto">
          <a:xfrm>
            <a:off x="2843784" y="376732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✓ / ✗ по каждому ключевому полю</a:t>
            </a:r>
            <a:endParaRPr lang="en-US" sz="900"/>
          </a:p>
        </p:txBody>
      </p:sp>
      <p:sp>
        <p:nvSpPr>
          <p:cNvPr id="1454394193" name="Shape 46"/>
          <p:cNvSpPr/>
          <p:nvPr/>
        </p:nvSpPr>
        <p:spPr bwMode="auto">
          <a:xfrm>
            <a:off x="457200" y="4023360"/>
            <a:ext cx="1508759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40369564" name="Text 47"/>
          <p:cNvSpPr/>
          <p:nvPr/>
        </p:nvSpPr>
        <p:spPr bwMode="auto">
          <a:xfrm>
            <a:off x="512064" y="40599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Источники</a:t>
            </a:r>
            <a:endParaRPr lang="en-US" sz="1000"/>
          </a:p>
        </p:txBody>
      </p:sp>
      <p:sp>
        <p:nvSpPr>
          <p:cNvPr id="1009953502" name="Shape 48"/>
          <p:cNvSpPr/>
          <p:nvPr/>
        </p:nvSpPr>
        <p:spPr bwMode="auto">
          <a:xfrm>
            <a:off x="1965960" y="4023360"/>
            <a:ext cx="82296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089382419" name="Text 49"/>
          <p:cNvSpPr/>
          <p:nvPr/>
        </p:nvSpPr>
        <p:spPr bwMode="auto">
          <a:xfrm>
            <a:off x="2020824" y="4059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EA87A"/>
                </a:solidFill>
              </a:rPr>
              <a:t>Всегда</a:t>
            </a:r>
            <a:endParaRPr lang="en-US" sz="900"/>
          </a:p>
        </p:txBody>
      </p:sp>
      <p:sp>
        <p:nvSpPr>
          <p:cNvPr id="195127708" name="Shape 50"/>
          <p:cNvSpPr/>
          <p:nvPr/>
        </p:nvSpPr>
        <p:spPr bwMode="auto">
          <a:xfrm>
            <a:off x="2788920" y="4023360"/>
            <a:ext cx="5669280" cy="265176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59791377" name="Text 51"/>
          <p:cNvSpPr/>
          <p:nvPr/>
        </p:nvSpPr>
        <p:spPr bwMode="auto">
          <a:xfrm>
            <a:off x="2843784" y="405993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Откуда взято значение: страница, фрагмент, риск</a:t>
            </a:r>
            <a:endParaRPr lang="en-US" sz="900"/>
          </a:p>
        </p:txBody>
      </p:sp>
      <p:sp>
        <p:nvSpPr>
          <p:cNvPr id="322900758" name="Shape 52"/>
          <p:cNvSpPr/>
          <p:nvPr/>
        </p:nvSpPr>
        <p:spPr bwMode="auto">
          <a:xfrm>
            <a:off x="457200" y="4315968"/>
            <a:ext cx="1508759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551364250" name="Text 53"/>
          <p:cNvSpPr/>
          <p:nvPr/>
        </p:nvSpPr>
        <p:spPr bwMode="auto">
          <a:xfrm>
            <a:off x="512064" y="4352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5BA4CF"/>
                </a:solidFill>
              </a:rPr>
              <a:t>Шкаф</a:t>
            </a:r>
            <a:endParaRPr lang="en-US" sz="1000"/>
          </a:p>
        </p:txBody>
      </p:sp>
      <p:sp>
        <p:nvSpPr>
          <p:cNvPr id="1864707922" name="Shape 54"/>
          <p:cNvSpPr/>
          <p:nvPr/>
        </p:nvSpPr>
        <p:spPr bwMode="auto">
          <a:xfrm>
            <a:off x="1965960" y="4315968"/>
            <a:ext cx="82296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486345158" name="Text 55"/>
          <p:cNvSpPr/>
          <p:nvPr/>
        </p:nvSpPr>
        <p:spPr bwMode="auto">
          <a:xfrm>
            <a:off x="2020824" y="43525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C8884A"/>
                </a:solidFill>
              </a:rPr>
              <a:t>Если есть</a:t>
            </a:r>
            <a:endParaRPr lang="en-US" sz="900"/>
          </a:p>
        </p:txBody>
      </p:sp>
      <p:sp>
        <p:nvSpPr>
          <p:cNvPr id="161585521" name="Shape 56"/>
          <p:cNvSpPr/>
          <p:nvPr/>
        </p:nvSpPr>
        <p:spPr bwMode="auto">
          <a:xfrm>
            <a:off x="2788920" y="4315968"/>
            <a:ext cx="5669280" cy="265176"/>
          </a:xfrm>
          <a:prstGeom prst="rect">
            <a:avLst/>
          </a:prstGeom>
          <a:solidFill>
            <a:srgbClr val="172030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851824880" name="Text 57"/>
          <p:cNvSpPr/>
          <p:nvPr/>
        </p:nvSpPr>
        <p:spPr bwMode="auto">
          <a:xfrm>
            <a:off x="2843784" y="435254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299"/>
                </a:solidFill>
              </a:rPr>
              <a:t>Позиции шкафа с OK/MISS и заводскими номерами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834739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Сценарий демонстрации - 3 файла из кейса</a:t>
            </a:r>
            <a:endParaRPr lang="en-US" sz="2200"/>
          </a:p>
        </p:txBody>
      </p:sp>
      <p:sp>
        <p:nvSpPr>
          <p:cNvPr id="1958670417" name="Shape 1"/>
          <p:cNvSpPr/>
          <p:nvPr/>
        </p:nvSpPr>
        <p:spPr bwMode="auto">
          <a:xfrm>
            <a:off x="457200" y="822960"/>
            <a:ext cx="4160519" cy="18288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53304186" name="Shape 2"/>
          <p:cNvSpPr/>
          <p:nvPr/>
        </p:nvSpPr>
        <p:spPr bwMode="auto">
          <a:xfrm>
            <a:off x="457200" y="822960"/>
            <a:ext cx="45720" cy="18288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202665619" name="Text 3"/>
          <p:cNvSpPr/>
          <p:nvPr/>
        </p:nvSpPr>
        <p:spPr bwMode="auto">
          <a:xfrm>
            <a:off x="566928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BA4CF"/>
                </a:solidFill>
              </a:rPr>
              <a:t>01</a:t>
            </a:r>
            <a:endParaRPr lang="en-US" sz="2000"/>
          </a:p>
        </p:txBody>
      </p:sp>
      <p:sp>
        <p:nvSpPr>
          <p:cNvPr id="1418927748" name="Text 4"/>
          <p:cNvSpPr/>
          <p:nvPr/>
        </p:nvSpPr>
        <p:spPr bwMode="auto">
          <a:xfrm>
            <a:off x="1115568" y="932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Загружаем 3 файла в очередь</a:t>
            </a:r>
            <a:endParaRPr lang="en-US" sz="1100"/>
          </a:p>
        </p:txBody>
      </p:sp>
      <p:sp>
        <p:nvSpPr>
          <p:cNvPr id="405186644" name="Text 5"/>
          <p:cNvSpPr/>
          <p:nvPr/>
        </p:nvSpPr>
        <p:spPr bwMode="auto">
          <a:xfrm>
            <a:off x="594360" y="132588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2 одиночных PDF + 1 групповой. Очередь отображается слева с именами файлов и числом страниц.</a:t>
            </a:r>
            <a:endParaRPr lang="en-US" sz="1000"/>
          </a:p>
        </p:txBody>
      </p:sp>
      <p:sp>
        <p:nvSpPr>
          <p:cNvPr id="160680457" name="Shape 6"/>
          <p:cNvSpPr/>
          <p:nvPr/>
        </p:nvSpPr>
        <p:spPr bwMode="auto">
          <a:xfrm>
            <a:off x="4800600" y="822960"/>
            <a:ext cx="4160519" cy="18288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2000750379" name="Shape 7"/>
          <p:cNvSpPr/>
          <p:nvPr/>
        </p:nvSpPr>
        <p:spPr bwMode="auto">
          <a:xfrm>
            <a:off x="4800600" y="822960"/>
            <a:ext cx="45720" cy="182880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918152680" name="Text 8"/>
          <p:cNvSpPr/>
          <p:nvPr/>
        </p:nvSpPr>
        <p:spPr bwMode="auto">
          <a:xfrm>
            <a:off x="4910328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C8884A"/>
                </a:solidFill>
              </a:rPr>
              <a:t>02</a:t>
            </a:r>
            <a:endParaRPr lang="en-US" sz="2000"/>
          </a:p>
        </p:txBody>
      </p:sp>
      <p:sp>
        <p:nvSpPr>
          <p:cNvPr id="1575865678" name="Text 9"/>
          <p:cNvSpPr/>
          <p:nvPr/>
        </p:nvSpPr>
        <p:spPr bwMode="auto">
          <a:xfrm>
            <a:off x="5458968" y="932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Запускаем обработку - смотрим результат</a:t>
            </a:r>
            <a:endParaRPr lang="en-US" sz="1100"/>
          </a:p>
        </p:txBody>
      </p:sp>
      <p:sp>
        <p:nvSpPr>
          <p:cNvPr id="24251145" name="Text 10"/>
          <p:cNvSpPr/>
          <p:nvPr/>
        </p:nvSpPr>
        <p:spPr bwMode="auto">
          <a:xfrm>
            <a:off x="4937760" y="132588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Мастер-модуль M1201E: quality 86%, с/н G4M0821, код TREI.421457.001 ПС, Code128 готов.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Групповой TECON TCC 8L: quality 90%, 6 серийных номеров, тип group_passport.</a:t>
            </a:r>
            <a:endParaRPr lang="en-US" sz="1000"/>
          </a:p>
        </p:txBody>
      </p:sp>
      <p:sp>
        <p:nvSpPr>
          <p:cNvPr id="762074977" name="Shape 11"/>
          <p:cNvSpPr/>
          <p:nvPr/>
        </p:nvSpPr>
        <p:spPr bwMode="auto">
          <a:xfrm>
            <a:off x="457200" y="2788920"/>
            <a:ext cx="4160519" cy="18288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325949505" name="Shape 12"/>
          <p:cNvSpPr/>
          <p:nvPr/>
        </p:nvSpPr>
        <p:spPr bwMode="auto">
          <a:xfrm>
            <a:off x="457200" y="2788920"/>
            <a:ext cx="45720" cy="1828800"/>
          </a:xfrm>
          <a:prstGeom prst="rect">
            <a:avLst/>
          </a:prstGeom>
          <a:solidFill>
            <a:srgbClr val="4EA87A"/>
          </a:solidFill>
          <a:ln w="12700">
            <a:solidFill>
              <a:srgbClr val="4EA87A"/>
            </a:solidFill>
            <a:prstDash val="solid"/>
          </a:ln>
        </p:spPr>
      </p:sp>
      <p:sp>
        <p:nvSpPr>
          <p:cNvPr id="429703788" name="Text 13"/>
          <p:cNvSpPr/>
          <p:nvPr/>
        </p:nvSpPr>
        <p:spPr bwMode="auto">
          <a:xfrm>
            <a:off x="566928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4EA87A"/>
                </a:solidFill>
              </a:rPr>
              <a:t>03</a:t>
            </a:r>
            <a:endParaRPr lang="en-US" sz="2000"/>
          </a:p>
        </p:txBody>
      </p:sp>
      <p:sp>
        <p:nvSpPr>
          <p:cNvPr id="911709267" name="Text 14"/>
          <p:cNvSpPr/>
          <p:nvPr/>
        </p:nvSpPr>
        <p:spPr bwMode="auto">
          <a:xfrm>
            <a:off x="1115568" y="2898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Режим «Шкаф» - перечень 14 позиций</a:t>
            </a:r>
            <a:endParaRPr lang="en-US" sz="1100"/>
          </a:p>
        </p:txBody>
      </p:sp>
      <p:sp>
        <p:nvSpPr>
          <p:cNvPr id="1442139807" name="Text 15"/>
          <p:cNvSpPr/>
          <p:nvPr/>
        </p:nvSpPr>
        <p:spPr bwMode="auto">
          <a:xfrm>
            <a:off x="594360" y="329184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Загружаем перечень шкафа. Результат: 8 позиций - OK (найден паспорт), 6 - MISS (б/н).</a:t>
            </a:r>
            <a:endParaRPr lang="en-US" sz="1000"/>
          </a:p>
        </p:txBody>
      </p:sp>
      <p:sp>
        <p:nvSpPr>
          <p:cNvPr id="42969328" name="Shape 16"/>
          <p:cNvSpPr/>
          <p:nvPr/>
        </p:nvSpPr>
        <p:spPr bwMode="auto">
          <a:xfrm>
            <a:off x="4800600" y="2788920"/>
            <a:ext cx="4160519" cy="1828800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3088686" name="Shape 17"/>
          <p:cNvSpPr/>
          <p:nvPr/>
        </p:nvSpPr>
        <p:spPr bwMode="auto">
          <a:xfrm>
            <a:off x="4800600" y="2788920"/>
            <a:ext cx="45720" cy="18288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89200491" name="Text 18"/>
          <p:cNvSpPr/>
          <p:nvPr/>
        </p:nvSpPr>
        <p:spPr bwMode="auto">
          <a:xfrm>
            <a:off x="4910328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BA4CF"/>
                </a:solidFill>
              </a:rPr>
              <a:t>04</a:t>
            </a:r>
            <a:endParaRPr lang="en-US" sz="2000"/>
          </a:p>
        </p:txBody>
      </p:sp>
      <p:sp>
        <p:nvSpPr>
          <p:cNvPr id="51153886" name="Text 19"/>
          <p:cNvSpPr/>
          <p:nvPr/>
        </p:nvSpPr>
        <p:spPr bwMode="auto">
          <a:xfrm>
            <a:off x="5458968" y="2898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Кнопка «Контроль» - запускаем оценку</a:t>
            </a:r>
            <a:endParaRPr lang="en-US" sz="1100"/>
          </a:p>
        </p:txBody>
      </p:sp>
      <p:sp>
        <p:nvSpPr>
          <p:cNvPr id="989159187" name="Text 20"/>
          <p:cNvSpPr/>
          <p:nvPr/>
        </p:nvSpPr>
        <p:spPr bwMode="auto">
          <a:xfrm>
            <a:off x="4937760" y="329184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full-прогон: </a:t>
            </a:r>
            <a:r>
              <a:rPr lang="ru-RU" sz="1000">
                <a:solidFill>
                  <a:srgbClr val="6B8299"/>
                </a:solidFill>
              </a:rPr>
              <a:t>20</a:t>
            </a:r>
            <a:r>
              <a:rPr lang="en-US" sz="1000">
                <a:solidFill>
                  <a:srgbClr val="6B8299"/>
                </a:solidFill>
              </a:rPr>
              <a:t>/</a:t>
            </a:r>
            <a:r>
              <a:rPr lang="ru-RU" sz="1000">
                <a:solidFill>
                  <a:srgbClr val="6B8299"/>
                </a:solidFill>
              </a:rPr>
              <a:t>20</a:t>
            </a:r>
            <a:r>
              <a:rPr lang="en-US" sz="1000">
                <a:solidFill>
                  <a:srgbClr val="6B8299"/>
                </a:solidFill>
              </a:rPr>
              <a:t> совпало. Диалог показывает: проверок 20, совпало 20, точность 100% на </a:t>
            </a:r>
            <a:r>
              <a:rPr lang="ru-RU" sz="1000">
                <a:solidFill>
                  <a:srgbClr val="6B8299"/>
                </a:solidFill>
              </a:rPr>
              <a:t>выборке, заданной вручную</a:t>
            </a:r>
            <a:r>
              <a:rPr lang="en-US" sz="1000">
                <a:solidFill>
                  <a:srgbClr val="6B8299"/>
                </a:solidFill>
              </a:rPr>
              <a:t>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836419" name="Text 0"/>
          <p:cNvSpPr/>
          <p:nvPr/>
        </p:nvSpPr>
        <p:spPr bwMode="auto"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C8D6E4"/>
                </a:solidFill>
              </a:rPr>
              <a:t>Ограничения</a:t>
            </a:r>
            <a:endParaRPr lang="en-US" sz="2200"/>
          </a:p>
        </p:txBody>
      </p:sp>
      <p:sp>
        <p:nvSpPr>
          <p:cNvPr id="668818418" name="Shape 1"/>
          <p:cNvSpPr/>
          <p:nvPr/>
        </p:nvSpPr>
        <p:spPr bwMode="auto">
          <a:xfrm>
            <a:off x="457200" y="822960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584984171" name="Shape 2"/>
          <p:cNvSpPr/>
          <p:nvPr/>
        </p:nvSpPr>
        <p:spPr bwMode="auto">
          <a:xfrm>
            <a:off x="457200" y="822960"/>
            <a:ext cx="45720" cy="749808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868970287" name="Text 3"/>
          <p:cNvSpPr/>
          <p:nvPr/>
        </p:nvSpPr>
        <p:spPr bwMode="auto">
          <a:xfrm>
            <a:off x="594360" y="886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⚠  Шумные / нечитаемые сканы</a:t>
            </a:r>
            <a:endParaRPr lang="en-US" sz="1100"/>
          </a:p>
        </p:txBody>
      </p:sp>
      <p:sp>
        <p:nvSpPr>
          <p:cNvPr id="562450547" name="Shape 4"/>
          <p:cNvSpPr/>
          <p:nvPr/>
        </p:nvSpPr>
        <p:spPr bwMode="auto">
          <a:xfrm>
            <a:off x="4617720" y="877824"/>
            <a:ext cx="0" cy="640080"/>
          </a:xfrm>
          <a:prstGeom prst="line">
            <a:avLst/>
          </a:prstGeom>
          <a:noFill/>
          <a:ln w="12700">
            <a:solidFill>
              <a:srgbClr val="2D4257"/>
            </a:solidFill>
            <a:prstDash val="dash"/>
          </a:ln>
        </p:spPr>
      </p:sp>
      <p:sp>
        <p:nvSpPr>
          <p:cNvPr id="280551630" name="Text 5"/>
          <p:cNvSpPr/>
          <p:nvPr/>
        </p:nvSpPr>
        <p:spPr bwMode="auto">
          <a:xfrm>
            <a:off x="4709160" y="9144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884A"/>
                </a:solidFill>
              </a:rPr>
              <a:t>→  Нужна ручная правка полей. Предпросмотр + поворот + Quality Score помогают оператору найти проблему.</a:t>
            </a:r>
            <a:endParaRPr lang="en-US" sz="1000"/>
          </a:p>
        </p:txBody>
      </p:sp>
      <p:sp>
        <p:nvSpPr>
          <p:cNvPr id="1146305092" name="Shape 6"/>
          <p:cNvSpPr/>
          <p:nvPr/>
        </p:nvSpPr>
        <p:spPr bwMode="auto">
          <a:xfrm>
            <a:off x="457200" y="1645920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713340709" name="Shape 7"/>
          <p:cNvSpPr/>
          <p:nvPr/>
        </p:nvSpPr>
        <p:spPr bwMode="auto">
          <a:xfrm>
            <a:off x="457200" y="1645920"/>
            <a:ext cx="45720" cy="749808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624598879" name="Text 8"/>
          <p:cNvSpPr/>
          <p:nvPr/>
        </p:nvSpPr>
        <p:spPr bwMode="auto">
          <a:xfrm>
            <a:off x="594360" y="1709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⚠  Нестандартный макет → тип unknown</a:t>
            </a:r>
            <a:endParaRPr lang="en-US" sz="1100"/>
          </a:p>
        </p:txBody>
      </p:sp>
      <p:sp>
        <p:nvSpPr>
          <p:cNvPr id="194346758" name="Shape 9"/>
          <p:cNvSpPr/>
          <p:nvPr/>
        </p:nvSpPr>
        <p:spPr bwMode="auto">
          <a:xfrm>
            <a:off x="4617720" y="1700784"/>
            <a:ext cx="0" cy="640080"/>
          </a:xfrm>
          <a:prstGeom prst="line">
            <a:avLst/>
          </a:prstGeom>
          <a:noFill/>
          <a:ln w="12700">
            <a:solidFill>
              <a:srgbClr val="2D4257"/>
            </a:solidFill>
            <a:prstDash val="dash"/>
          </a:ln>
        </p:spPr>
      </p:sp>
      <p:sp>
        <p:nvSpPr>
          <p:cNvPr id="586195389" name="Text 10"/>
          <p:cNvSpPr/>
          <p:nvPr/>
        </p:nvSpPr>
        <p:spPr bwMode="auto">
          <a:xfrm>
            <a:off x="4709160" y="173736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8884A"/>
                </a:solidFill>
              </a:rPr>
              <a:t>→  Rules-слой ориентирован на типовые бланки. Нетипичные документы могут требовать правки или добавления правил.</a:t>
            </a:r>
            <a:endParaRPr lang="en-US" sz="1000"/>
          </a:p>
        </p:txBody>
      </p:sp>
      <p:sp>
        <p:nvSpPr>
          <p:cNvPr id="1576467172" name="Shape 11"/>
          <p:cNvSpPr/>
          <p:nvPr/>
        </p:nvSpPr>
        <p:spPr bwMode="auto">
          <a:xfrm>
            <a:off x="457200" y="2468880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742180168" name="Shape 12"/>
          <p:cNvSpPr/>
          <p:nvPr/>
        </p:nvSpPr>
        <p:spPr bwMode="auto">
          <a:xfrm>
            <a:off x="457200" y="2468880"/>
            <a:ext cx="45720" cy="749808"/>
          </a:xfrm>
          <a:prstGeom prst="rect">
            <a:avLst/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14920851" name="Text 13"/>
          <p:cNvSpPr/>
          <p:nvPr/>
        </p:nvSpPr>
        <p:spPr bwMode="auto">
          <a:xfrm>
            <a:off x="59436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⚠  Штрихкод: только A-Z, 0-9, дефис, ≤20 символов</a:t>
            </a:r>
            <a:endParaRPr lang="en-US" sz="1100"/>
          </a:p>
        </p:txBody>
      </p:sp>
      <p:sp>
        <p:nvSpPr>
          <p:cNvPr id="1077065776" name="Shape 14"/>
          <p:cNvSpPr/>
          <p:nvPr/>
        </p:nvSpPr>
        <p:spPr bwMode="auto">
          <a:xfrm>
            <a:off x="4617720" y="2523744"/>
            <a:ext cx="0" cy="640080"/>
          </a:xfrm>
          <a:prstGeom prst="line">
            <a:avLst/>
          </a:prstGeom>
          <a:noFill/>
          <a:ln w="12700">
            <a:solidFill>
              <a:srgbClr val="2D4257"/>
            </a:solidFill>
            <a:prstDash val="dash"/>
          </a:ln>
        </p:spPr>
      </p:sp>
      <p:sp>
        <p:nvSpPr>
          <p:cNvPr id="79048700" name="Text 15"/>
          <p:cNvSpPr/>
          <p:nvPr/>
        </p:nvSpPr>
        <p:spPr bwMode="auto">
          <a:xfrm>
            <a:off x="4709160" y="25603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→  Ограничение python-barcode и Code128 subset. Длинные коды обрезаются автоматически.</a:t>
            </a:r>
            <a:endParaRPr lang="en-US" sz="1000"/>
          </a:p>
        </p:txBody>
      </p:sp>
      <p:sp>
        <p:nvSpPr>
          <p:cNvPr id="837438474" name="Shape 16"/>
          <p:cNvSpPr/>
          <p:nvPr/>
        </p:nvSpPr>
        <p:spPr bwMode="auto">
          <a:xfrm>
            <a:off x="457200" y="3291840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48619579" name="Shape 17"/>
          <p:cNvSpPr/>
          <p:nvPr/>
        </p:nvSpPr>
        <p:spPr bwMode="auto">
          <a:xfrm>
            <a:off x="457200" y="3291840"/>
            <a:ext cx="45720" cy="749808"/>
          </a:xfrm>
          <a:prstGeom prst="rect">
            <a:avLst/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210684348" name="Text 18"/>
          <p:cNvSpPr/>
          <p:nvPr/>
        </p:nvSpPr>
        <p:spPr bwMode="auto">
          <a:xfrm>
            <a:off x="594360" y="3355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⚠  Интеграция с 1С - через Excel, не прямой API</a:t>
            </a:r>
            <a:endParaRPr lang="en-US" sz="1100"/>
          </a:p>
        </p:txBody>
      </p:sp>
      <p:sp>
        <p:nvSpPr>
          <p:cNvPr id="1519975909" name="Shape 19"/>
          <p:cNvSpPr/>
          <p:nvPr/>
        </p:nvSpPr>
        <p:spPr bwMode="auto">
          <a:xfrm>
            <a:off x="4617720" y="3346704"/>
            <a:ext cx="0" cy="640080"/>
          </a:xfrm>
          <a:prstGeom prst="line">
            <a:avLst/>
          </a:prstGeom>
          <a:noFill/>
          <a:ln w="12700">
            <a:solidFill>
              <a:srgbClr val="2D4257"/>
            </a:solidFill>
            <a:prstDash val="dash"/>
          </a:ln>
        </p:spPr>
      </p:sp>
      <p:sp>
        <p:nvSpPr>
          <p:cNvPr id="237989271" name="Text 20"/>
          <p:cNvSpPr/>
          <p:nvPr/>
        </p:nvSpPr>
        <p:spPr bwMode="auto">
          <a:xfrm>
            <a:off x="4709160" y="33832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→  ImportFromExcel работает без доработки 1С. Прямой COM/REST в проекте не реализован.</a:t>
            </a:r>
            <a:endParaRPr lang="en-US" sz="1000"/>
          </a:p>
        </p:txBody>
      </p:sp>
      <p:sp>
        <p:nvSpPr>
          <p:cNvPr id="946486345" name="Shape 21"/>
          <p:cNvSpPr/>
          <p:nvPr/>
        </p:nvSpPr>
        <p:spPr bwMode="auto">
          <a:xfrm>
            <a:off x="457200" y="4114800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331262585" name="Shape 22"/>
          <p:cNvSpPr/>
          <p:nvPr/>
        </p:nvSpPr>
        <p:spPr bwMode="auto">
          <a:xfrm>
            <a:off x="457200" y="4114800"/>
            <a:ext cx="45720" cy="749808"/>
          </a:xfrm>
          <a:prstGeom prst="rect">
            <a:avLst/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1518578128" name="Text 23"/>
          <p:cNvSpPr/>
          <p:nvPr/>
        </p:nvSpPr>
        <p:spPr bwMode="auto">
          <a:xfrm>
            <a:off x="594360" y="4178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8D6E4"/>
                </a:solidFill>
              </a:rPr>
              <a:t>⚠  Контрольная выборка - 6 документов</a:t>
            </a:r>
            <a:endParaRPr lang="en-US" sz="1100"/>
          </a:p>
        </p:txBody>
      </p:sp>
      <p:sp>
        <p:nvSpPr>
          <p:cNvPr id="1910269926" name="Shape 24"/>
          <p:cNvSpPr/>
          <p:nvPr/>
        </p:nvSpPr>
        <p:spPr bwMode="auto">
          <a:xfrm>
            <a:off x="4617720" y="4169664"/>
            <a:ext cx="0" cy="640080"/>
          </a:xfrm>
          <a:prstGeom prst="line">
            <a:avLst/>
          </a:prstGeom>
          <a:noFill/>
          <a:ln w="12700">
            <a:solidFill>
              <a:srgbClr val="2D4257"/>
            </a:solidFill>
            <a:prstDash val="dash"/>
          </a:ln>
        </p:spPr>
      </p:sp>
      <p:sp>
        <p:nvSpPr>
          <p:cNvPr id="1860010950" name="Text 25"/>
          <p:cNvSpPr/>
          <p:nvPr/>
        </p:nvSpPr>
        <p:spPr bwMode="auto">
          <a:xfrm>
            <a:off x="4709160" y="42062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→  Метрика точности репрезентирует только кейс-задание. Реальная точность зависит от качества сканов клиента.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C15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809574" name="Text 0"/>
          <p:cNvSpPr/>
          <p:nvPr/>
        </p:nvSpPr>
        <p:spPr bwMode="auto">
          <a:xfrm>
            <a:off x="457200" y="10287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800" b="1">
                <a:solidFill>
                  <a:srgbClr val="C8D6E4"/>
                </a:solidFill>
              </a:rPr>
              <a:t>ПАСПОРТ</a:t>
            </a:r>
            <a:r>
              <a:rPr lang="en-US" sz="5800" b="1" i="0" u="none" strike="noStrike" cap="none" spc="0">
                <a:solidFill>
                  <a:srgbClr val="5BA4CF"/>
                </a:solidFill>
                <a:latin typeface="+mn-lt"/>
                <a:ea typeface="+mn-ea"/>
                <a:cs typeface="+mn-cs"/>
              </a:rPr>
              <a:t>.ЦИФ</a:t>
            </a:r>
            <a:endParaRPr sz="5800"/>
          </a:p>
        </p:txBody>
      </p:sp>
      <p:sp>
        <p:nvSpPr>
          <p:cNvPr id="1291172491" name="Text 2"/>
          <p:cNvSpPr/>
          <p:nvPr/>
        </p:nvSpPr>
        <p:spPr bwMode="auto">
          <a:xfrm>
            <a:off x="82296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C8884A"/>
                </a:solidFill>
              </a:rPr>
              <a:t>Flask + Tesseract</a:t>
            </a:r>
            <a:endParaRPr lang="en-US" sz="2000"/>
          </a:p>
        </p:txBody>
      </p:sp>
      <p:sp>
        <p:nvSpPr>
          <p:cNvPr id="463220495" name="Text 3"/>
          <p:cNvSpPr/>
          <p:nvPr/>
        </p:nvSpPr>
        <p:spPr bwMode="auto">
          <a:xfrm>
            <a:off x="822960" y="3310127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8299"/>
                </a:solidFill>
              </a:rPr>
              <a:t>без облаков</a:t>
            </a:r>
            <a:endParaRPr lang="en-US" sz="1100"/>
          </a:p>
        </p:txBody>
      </p:sp>
      <p:sp>
        <p:nvSpPr>
          <p:cNvPr id="211935924" name="Text 4"/>
          <p:cNvSpPr/>
          <p:nvPr/>
        </p:nvSpPr>
        <p:spPr bwMode="auto">
          <a:xfrm>
            <a:off x="34290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C8884A"/>
                </a:solidFill>
              </a:rPr>
              <a:t>full: 20/20</a:t>
            </a:r>
            <a:endParaRPr lang="en-US" sz="2000"/>
          </a:p>
        </p:txBody>
      </p:sp>
      <p:sp>
        <p:nvSpPr>
          <p:cNvPr id="1740393758" name="Text 5"/>
          <p:cNvSpPr/>
          <p:nvPr/>
        </p:nvSpPr>
        <p:spPr bwMode="auto">
          <a:xfrm flipH="0" flipV="0">
            <a:off x="3429000" y="3310127"/>
            <a:ext cx="2331720" cy="31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8299"/>
                </a:solidFill>
              </a:rPr>
              <a:t>прогон</a:t>
            </a:r>
            <a:r>
              <a:rPr lang="ru-RU" sz="1100">
                <a:solidFill>
                  <a:srgbClr val="6B8299"/>
                </a:solidFill>
              </a:rPr>
              <a:t> на контрольной выборке</a:t>
            </a:r>
            <a:endParaRPr lang="en-US" sz="1100"/>
          </a:p>
        </p:txBody>
      </p:sp>
      <p:sp>
        <p:nvSpPr>
          <p:cNvPr id="1114310253" name="Text 6"/>
          <p:cNvSpPr/>
          <p:nvPr/>
        </p:nvSpPr>
        <p:spPr bwMode="auto">
          <a:xfrm>
            <a:off x="6035039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ru-RU" sz="2000" b="1">
                <a:solidFill>
                  <a:srgbClr val="C8884A"/>
                </a:solidFill>
              </a:rPr>
              <a:t>7</a:t>
            </a:r>
            <a:r>
              <a:rPr lang="en-US" sz="2000" b="1">
                <a:solidFill>
                  <a:srgbClr val="C8884A"/>
                </a:solidFill>
              </a:rPr>
              <a:t> листов Excel</a:t>
            </a:r>
            <a:endParaRPr lang="en-US" sz="2000"/>
          </a:p>
        </p:txBody>
      </p:sp>
      <p:sp>
        <p:nvSpPr>
          <p:cNvPr id="808356052" name="Text 7"/>
          <p:cNvSpPr/>
          <p:nvPr/>
        </p:nvSpPr>
        <p:spPr bwMode="auto">
          <a:xfrm>
            <a:off x="6035039" y="3310127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ru-RU" sz="1100">
                <a:solidFill>
                  <a:srgbClr val="6B8299"/>
                </a:solidFill>
              </a:rPr>
              <a:t>+</a:t>
            </a:r>
            <a:r>
              <a:rPr lang="en-US" sz="1100">
                <a:solidFill>
                  <a:srgbClr val="6B8299"/>
                </a:solidFill>
              </a:rPr>
              <a:t> 1С</a:t>
            </a:r>
            <a:r>
              <a:rPr lang="ru-RU" sz="1100">
                <a:solidFill>
                  <a:srgbClr val="6B8299"/>
                </a:solidFill>
              </a:rPr>
              <a:t> ошибки при наличии</a:t>
            </a:r>
            <a:endParaRPr lang="en-US" sz="1100"/>
          </a:p>
        </p:txBody>
      </p:sp>
      <p:sp>
        <p:nvSpPr>
          <p:cNvPr id="1926823097" name="Shape 8"/>
          <p:cNvSpPr/>
          <p:nvPr/>
        </p:nvSpPr>
        <p:spPr bwMode="auto">
          <a:xfrm>
            <a:off x="2743200" y="3840480"/>
            <a:ext cx="3657600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2D4257"/>
            </a:solidFill>
            <a:prstDash val="solid"/>
          </a:ln>
        </p:spPr>
      </p:sp>
      <p:sp>
        <p:nvSpPr>
          <p:cNvPr id="1646949645" name="Text 9"/>
          <p:cNvSpPr/>
          <p:nvPr/>
        </p:nvSpPr>
        <p:spPr bwMode="auto">
          <a:xfrm>
            <a:off x="2834640" y="3904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C8D6E4"/>
                </a:solidFill>
              </a:rPr>
              <a:t>Бухна Даниил  ·  Некрасов Никита</a:t>
            </a:r>
            <a:endParaRPr lang="en-US" sz="1200"/>
          </a:p>
        </p:txBody>
      </p:sp>
      <p:sp>
        <p:nvSpPr>
          <p:cNvPr id="420937460" name="Text 10"/>
          <p:cNvSpPr/>
          <p:nvPr/>
        </p:nvSpPr>
        <p:spPr bwMode="auto">
          <a:xfrm>
            <a:off x="2834640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8299"/>
                </a:solidFill>
              </a:rPr>
              <a:t>Хакатон РТУ МИРЭА 2026  ·  Задача 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ПАСПОРТ.ЦИФ v3</dc:title>
  <dc:subject>PptxGenJS Presentation</dc:subject>
  <dc:creator>PptxGenJS</dc:creator>
  <cp:lastModifiedBy/>
  <cp:revision>2</cp:revision>
  <dcterms:created xsi:type="dcterms:W3CDTF">2026-04-19T07:53:00Z</dcterms:created>
  <dcterms:modified xsi:type="dcterms:W3CDTF">2026-04-19T16:01:19Z</dcterms:modified>
</cp:coreProperties>
</file>